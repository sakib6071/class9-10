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FFCC"/>
    <a:srgbClr val="FF5757"/>
    <a:srgbClr val="5F94E3"/>
    <a:srgbClr val="B723E5"/>
    <a:srgbClr val="61C39B"/>
    <a:srgbClr val="66CCFF"/>
    <a:srgbClr val="45AEC3"/>
    <a:srgbClr val="D3D983"/>
    <a:srgbClr val="B5C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72" autoAdjust="0"/>
    <p:restoredTop sz="85022" autoAdjust="0"/>
  </p:normalViewPr>
  <p:slideViewPr>
    <p:cSldViewPr snapToGrid="0">
      <p:cViewPr varScale="1">
        <p:scale>
          <a:sx n="75" d="100"/>
          <a:sy n="75" d="100"/>
        </p:scale>
        <p:origin x="251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B218C-A63E-4F90-9B9B-72D48323E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D2AD5-EE36-4FE0-9F7A-582976DF3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74FDC-4837-47BF-A43C-272C6322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9CC4-D2E4-47B1-8DC1-23E7E3B4073E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FD05E-44AA-43C6-94FE-56989EBA0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2BD57-56A0-4B43-B492-AC118D36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D23C-33B8-43F3-9E65-3A864A2FD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62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D026-9E9A-4842-B1BD-ACE36B71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2C9EB-530A-41CC-8953-6DD152529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8BCC0-10AE-4A40-9E7E-6F0F4BF59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9CC4-D2E4-47B1-8DC1-23E7E3B4073E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89A00-92A9-44A3-A812-390EA204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8C93D-2143-4FF7-AD25-EF50D18E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D23C-33B8-43F3-9E65-3A864A2FD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436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D3FD-A77B-4F6E-907A-697174BEE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AACD3-7600-4F99-8B0D-433233B94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C6786-B52A-4177-9843-A6FDE475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9CC4-D2E4-47B1-8DC1-23E7E3B4073E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FE998-F830-42EE-9136-83FBBC2F5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CF4FA-0653-4AA7-A5D9-0BC7087A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D23C-33B8-43F3-9E65-3A864A2FD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24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1C99A-BB34-445F-86F8-C1CB7604E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D0B15-765F-409F-8C8E-3BAE88536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B5AE3-5D2E-48B3-A9D6-2DC673D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54460-8686-4870-B567-2E2812FE6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9CC4-D2E4-47B1-8DC1-23E7E3B4073E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7C038-FF05-4CCF-9006-678699DF1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9E7F4-CAA1-4483-AE92-210CB1BD5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D23C-33B8-43F3-9E65-3A864A2FD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79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F7E5F-80C5-4B24-84B8-D7E739194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41C0C-379B-436D-96E6-2671C76B9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AE67D-25A6-43E9-BA58-9BC449EB5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FB9A1-2451-4C2F-883D-90C8B2E49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238E3-12B8-4FC4-9D43-E4C895B93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383B5E-2CB0-4AC9-B5C3-76149B264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9CC4-D2E4-47B1-8DC1-23E7E3B4073E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89FD9C-81DE-4CEE-9172-3A3C48E93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F543F-B6FF-4F04-A3E4-D9B07694B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D23C-33B8-43F3-9E65-3A864A2FD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13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4EC5B-69C9-4557-B36E-3566990EC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4713EC-0637-4C91-83F1-C7DCE5D0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9CC4-D2E4-47B1-8DC1-23E7E3B4073E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EA673-67D0-40FE-B7C8-BFFAB8B0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CA586-591E-460A-9AF5-19AA95454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D23C-33B8-43F3-9E65-3A864A2FD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76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DDB1A-F3D4-473D-B0F9-DB85482B1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9CC4-D2E4-47B1-8DC1-23E7E3B4073E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1BE30E-F79C-4E4A-B018-EC647218E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8F49A-C381-485A-BDCA-065A0B6E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D23C-33B8-43F3-9E65-3A864A2FD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3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A02D4-D5FD-4062-9B0E-878122FE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B81F5-B089-4E0F-92E9-75E0C3FB0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05B01-545A-4482-A6F5-2866BBB42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46239-281B-4ADF-96D0-34C171CC1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9CC4-D2E4-47B1-8DC1-23E7E3B4073E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93DFD-810E-4B16-8C2B-CBB6E8B3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8A91C-23D0-448B-A746-E4D299B2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D23C-33B8-43F3-9E65-3A864A2FD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8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81ED5-B1AA-40BF-8A4D-4B8798461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C93F7-3E98-43CA-8BCD-728EEB854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A0241-3E56-4536-9797-1464B4C83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56A81-7805-4343-AEE9-6D7C2FED4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9CC4-D2E4-47B1-8DC1-23E7E3B4073E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6FCBF-D84F-4F10-B54C-A2E1AFD40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54EF8-DDB2-44EB-B03F-E8DF9C45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D23C-33B8-43F3-9E65-3A864A2FD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79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F9DD-0966-4F7E-A223-9FB7C06F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73EE96-8EEB-4B8A-9859-76C71BCB2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00D00-C3E4-4802-97CD-0D8FA304C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9CC4-D2E4-47B1-8DC1-23E7E3B4073E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68DF7-D7D8-46DC-986E-2E43AC038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C54C2-E8BF-4189-A4D3-DE1639F0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D23C-33B8-43F3-9E65-3A864A2FD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3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ADDE68-A99B-42BF-AB71-7CAB6B286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BB20A-CE4E-4908-A573-D79E8A284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0CC1F-5F6D-4155-A31D-E2F99F534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9CC4-D2E4-47B1-8DC1-23E7E3B4073E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AA2F6-407C-41CC-B6BC-25F0DA70E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9D7D9-8EA0-467A-A9F2-0A352B4A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D23C-33B8-43F3-9E65-3A864A2FD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81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211264-F7BD-40AC-B989-31A9040E2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EA54D-7739-4106-B8C9-DF2F3E3E2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7F6B5-BDE7-4E7B-9628-28C87009D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9CC4-D2E4-47B1-8DC1-23E7E3B4073E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973F6-1720-44FC-BCBC-384665C2F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1BE08-FC7B-4AF3-81F2-29AD06019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AD23C-33B8-43F3-9E65-3A864A2FD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9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1.gif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.gif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8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>
            <a:extLst>
              <a:ext uri="{FF2B5EF4-FFF2-40B4-BE49-F238E27FC236}">
                <a16:creationId xmlns:a16="http://schemas.microsoft.com/office/drawing/2014/main" id="{40EE9E50-2BE6-478E-B76A-D6DF355DE5DB}"/>
              </a:ext>
            </a:extLst>
          </p:cNvPr>
          <p:cNvSpPr txBox="1"/>
          <p:nvPr/>
        </p:nvSpPr>
        <p:spPr>
          <a:xfrm>
            <a:off x="-4016429" y="2262192"/>
            <a:ext cx="7889924" cy="2438809"/>
          </a:xfrm>
          <a:prstGeom prst="rect">
            <a:avLst/>
          </a:prstGeom>
          <a:noFill/>
          <a:effectLst>
            <a:glow>
              <a:schemeClr val="bg1"/>
            </a:glow>
            <a:outerShdw blurRad="88900" dist="114300" algn="l" rotWithShape="0">
              <a:prstClr val="black">
                <a:alpha val="53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u="sng" spc="100" dirty="0" err="1">
                <a:solidFill>
                  <a:srgbClr val="D3D983"/>
                </a:solidFill>
                <a:effectLst>
                  <a:glow rad="25400">
                    <a:srgbClr val="FF0000">
                      <a:alpha val="39000"/>
                    </a:srgbClr>
                  </a:glow>
                </a:effectLst>
                <a:latin typeface="Algerian" panose="04020705040A02060702" pitchFamily="82" charset="0"/>
              </a:rPr>
              <a:t>আলোচ্য</a:t>
            </a:r>
            <a:r>
              <a:rPr lang="en-US" sz="5400" b="1" u="sng" spc="100" dirty="0">
                <a:solidFill>
                  <a:srgbClr val="D3D983"/>
                </a:solidFill>
                <a:effectLst>
                  <a:glow rad="25400">
                    <a:srgbClr val="FF0000">
                      <a:alpha val="39000"/>
                    </a:srgbClr>
                  </a:glow>
                </a:effectLst>
                <a:latin typeface="Algerian" panose="04020705040A02060702" pitchFamily="82" charset="0"/>
              </a:rPr>
              <a:t> </a:t>
            </a:r>
            <a:r>
              <a:rPr lang="en-US" sz="5400" b="1" u="sng" spc="100" dirty="0" err="1">
                <a:solidFill>
                  <a:srgbClr val="D3D983"/>
                </a:solidFill>
                <a:effectLst>
                  <a:glow rad="25400">
                    <a:srgbClr val="FF0000">
                      <a:alpha val="39000"/>
                    </a:srgbClr>
                  </a:glow>
                </a:effectLst>
                <a:latin typeface="Algerian" panose="04020705040A02060702" pitchFamily="82" charset="0"/>
              </a:rPr>
              <a:t>বিষয়</a:t>
            </a:r>
            <a:endParaRPr lang="en-US" sz="5400" b="1" u="sng" spc="100" dirty="0">
              <a:solidFill>
                <a:srgbClr val="D3D983"/>
              </a:solidFill>
              <a:effectLst>
                <a:glow rad="25400">
                  <a:srgbClr val="FF0000">
                    <a:alpha val="39000"/>
                  </a:srgbClr>
                </a:glow>
              </a:effectLst>
              <a:latin typeface="Algerian" panose="04020705040A02060702" pitchFamily="82" charset="0"/>
            </a:endParaRPr>
          </a:p>
          <a:p>
            <a:pPr algn="ctr">
              <a:lnSpc>
                <a:spcPct val="150000"/>
              </a:lnSpc>
            </a:pPr>
            <a:r>
              <a:rPr lang="en-US" sz="5400" spc="100" dirty="0" err="1">
                <a:effectLst>
                  <a:glow rad="25400">
                    <a:srgbClr val="FF0000">
                      <a:alpha val="39000"/>
                    </a:srgbClr>
                  </a:glow>
                </a:effectLst>
                <a:latin typeface="Algerian" panose="04020705040A02060702" pitchFamily="82" charset="0"/>
              </a:rPr>
              <a:t>ত্রিকোণোমিতিক</a:t>
            </a:r>
            <a:r>
              <a:rPr lang="en-US" sz="5400" spc="100" dirty="0">
                <a:effectLst>
                  <a:glow rad="25400">
                    <a:srgbClr val="FF0000">
                      <a:alpha val="39000"/>
                    </a:srgbClr>
                  </a:glow>
                </a:effectLst>
                <a:latin typeface="Algerian" panose="04020705040A02060702" pitchFamily="82" charset="0"/>
              </a:rPr>
              <a:t> </a:t>
            </a:r>
            <a:r>
              <a:rPr lang="en-US" sz="5400" spc="100" dirty="0" err="1">
                <a:effectLst>
                  <a:glow rad="25400">
                    <a:srgbClr val="FF0000">
                      <a:alpha val="39000"/>
                    </a:srgbClr>
                  </a:glow>
                </a:effectLst>
                <a:latin typeface="Algerian" panose="04020705040A02060702" pitchFamily="82" charset="0"/>
              </a:rPr>
              <a:t>অনুপাত</a:t>
            </a:r>
            <a:endParaRPr lang="en-US" sz="3600" spc="100" dirty="0">
              <a:effectLst>
                <a:glow rad="25400">
                  <a:srgbClr val="FF0000">
                    <a:alpha val="39000"/>
                  </a:srgbClr>
                </a:glow>
              </a:effectLst>
              <a:latin typeface="Algerian" panose="04020705040A02060702" pitchFamily="82" charset="0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988AE0C-386A-A4E6-6B93-4598703D033A}"/>
              </a:ext>
            </a:extLst>
          </p:cNvPr>
          <p:cNvGrpSpPr/>
          <p:nvPr/>
        </p:nvGrpSpPr>
        <p:grpSpPr>
          <a:xfrm>
            <a:off x="-8061298" y="-33926"/>
            <a:ext cx="12324626" cy="6858000"/>
            <a:chOff x="-8061298" y="-33926"/>
            <a:chExt cx="12324626" cy="6858000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B7D015A7-9C54-6DF0-CB76-39D6AE7559FB}"/>
                </a:ext>
              </a:extLst>
            </p:cNvPr>
            <p:cNvGrpSpPr/>
            <p:nvPr/>
          </p:nvGrpSpPr>
          <p:grpSpPr>
            <a:xfrm>
              <a:off x="-8061298" y="-33926"/>
              <a:ext cx="12324626" cy="6858000"/>
              <a:chOff x="-8061298" y="-33926"/>
              <a:chExt cx="12324626" cy="6858000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50A9F9A-3457-4FA7-88D1-EAF1B133DF92}"/>
                  </a:ext>
                </a:extLst>
              </p:cNvPr>
              <p:cNvGrpSpPr/>
              <p:nvPr/>
            </p:nvGrpSpPr>
            <p:grpSpPr>
              <a:xfrm>
                <a:off x="-8061298" y="-33926"/>
                <a:ext cx="12324626" cy="6858000"/>
                <a:chOff x="120594" y="0"/>
                <a:chExt cx="12324626" cy="6858000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C638BC4C-F953-4400-97D3-5D9534A9BD0E}"/>
                    </a:ext>
                  </a:extLst>
                </p:cNvPr>
                <p:cNvGrpSpPr/>
                <p:nvPr/>
              </p:nvGrpSpPr>
              <p:grpSpPr>
                <a:xfrm>
                  <a:off x="120594" y="0"/>
                  <a:ext cx="11950811" cy="6858000"/>
                  <a:chOff x="0" y="0"/>
                  <a:chExt cx="11950811" cy="6858000"/>
                </a:xfrm>
                <a:effectLst>
                  <a:outerShdw blurRad="190500" dist="88900" algn="l" rotWithShape="0">
                    <a:prstClr val="black">
                      <a:alpha val="51000"/>
                    </a:prstClr>
                  </a:outerShdw>
                </a:effectLst>
              </p:grpSpPr>
              <p:grpSp>
                <p:nvGrpSpPr>
                  <p:cNvPr id="87" name="Group 86">
                    <a:extLst>
                      <a:ext uri="{FF2B5EF4-FFF2-40B4-BE49-F238E27FC236}">
                        <a16:creationId xmlns:a16="http://schemas.microsoft.com/office/drawing/2014/main" id="{10245D7A-E103-4B17-B2C2-4C42814ECF8A}"/>
                      </a:ext>
                    </a:extLst>
                  </p:cNvPr>
                  <p:cNvGrpSpPr/>
                  <p:nvPr/>
                </p:nvGrpSpPr>
                <p:grpSpPr>
                  <a:xfrm>
                    <a:off x="11593002" y="368410"/>
                    <a:ext cx="357809" cy="408167"/>
                    <a:chOff x="11593002" y="368410"/>
                    <a:chExt cx="357809" cy="408167"/>
                  </a:xfrm>
                </p:grpSpPr>
                <p:sp>
                  <p:nvSpPr>
                    <p:cNvPr id="68" name="Rectangle: Top Corners Rounded 67">
                      <a:extLst>
                        <a:ext uri="{FF2B5EF4-FFF2-40B4-BE49-F238E27FC236}">
                          <a16:creationId xmlns:a16="http://schemas.microsoft.com/office/drawing/2014/main" id="{00ECCF63-F441-45CA-8634-4ED254CE115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1611555" y="437321"/>
                      <a:ext cx="408167" cy="270345"/>
                    </a:xfrm>
                    <a:prstGeom prst="round2SameRect">
                      <a:avLst/>
                    </a:prstGeom>
                    <a:solidFill>
                      <a:srgbClr val="A485DB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1" name="TextBox 80">
                      <a:extLst>
                        <a:ext uri="{FF2B5EF4-FFF2-40B4-BE49-F238E27FC236}">
                          <a16:creationId xmlns:a16="http://schemas.microsoft.com/office/drawing/2014/main" id="{C610BFE7-7327-4E5F-AD19-E3F67B3759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593002" y="368410"/>
                      <a:ext cx="270345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000" dirty="0">
                          <a:solidFill>
                            <a:srgbClr val="99C8B2"/>
                          </a:solidFill>
                          <a:latin typeface="Bodoni MT Black" panose="02070A03080606020203" pitchFamily="18" charset="0"/>
                        </a:rPr>
                        <a:t>A</a:t>
                      </a:r>
                    </a:p>
                  </p:txBody>
                </p:sp>
              </p:grpSp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BEC016D5-A8E7-4591-ADB0-10AB68B8513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680466" cy="6858000"/>
                  </a:xfrm>
                  <a:prstGeom prst="rect">
                    <a:avLst/>
                  </a:prstGeom>
                  <a:solidFill>
                    <a:srgbClr val="A485D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53791A85-CEAD-40CC-BAF8-F5AF79D04AF3}"/>
                    </a:ext>
                  </a:extLst>
                </p:cNvPr>
                <p:cNvSpPr txBox="1"/>
                <p:nvPr/>
              </p:nvSpPr>
              <p:spPr>
                <a:xfrm>
                  <a:off x="4555296" y="1500862"/>
                  <a:ext cx="78899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3AD44EEA-757B-CFB0-FDDC-35B08D4B0182}"/>
                  </a:ext>
                </a:extLst>
              </p:cNvPr>
              <p:cNvGrpSpPr/>
              <p:nvPr/>
            </p:nvGrpSpPr>
            <p:grpSpPr>
              <a:xfrm>
                <a:off x="938065" y="706112"/>
                <a:ext cx="2240825" cy="2599531"/>
                <a:chOff x="8004484" y="2426268"/>
                <a:chExt cx="3598399" cy="3714832"/>
              </a:xfrm>
            </p:grpSpPr>
            <p:sp>
              <p:nvSpPr>
                <p:cNvPr id="62" name="Right Triangle 61">
                  <a:extLst>
                    <a:ext uri="{FF2B5EF4-FFF2-40B4-BE49-F238E27FC236}">
                      <a16:creationId xmlns:a16="http://schemas.microsoft.com/office/drawing/2014/main" id="{28FED50C-DF05-B937-DAC6-FF04C34F1BDE}"/>
                    </a:ext>
                  </a:extLst>
                </p:cNvPr>
                <p:cNvSpPr/>
                <p:nvPr/>
              </p:nvSpPr>
              <p:spPr>
                <a:xfrm>
                  <a:off x="8536954" y="3108341"/>
                  <a:ext cx="2835797" cy="2835797"/>
                </a:xfrm>
                <a:prstGeom prst="rtTriangle">
                  <a:avLst/>
                </a:prstGeom>
                <a:noFill/>
                <a:ln w="5715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5B9E95F-A2F0-14F2-A9B2-28565CFC2C92}"/>
                    </a:ext>
                  </a:extLst>
                </p:cNvPr>
                <p:cNvSpPr txBox="1"/>
                <p:nvPr/>
              </p:nvSpPr>
              <p:spPr>
                <a:xfrm>
                  <a:off x="8473713" y="2426268"/>
                  <a:ext cx="451838" cy="7477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b="1" dirty="0">
                      <a:solidFill>
                        <a:srgbClr val="FFFF00"/>
                      </a:solidFill>
                    </a:rPr>
                    <a:t>A</a:t>
                  </a: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4971D433-3B89-425A-F5AC-5F38A3E545AF}"/>
                    </a:ext>
                  </a:extLst>
                </p:cNvPr>
                <p:cNvSpPr txBox="1"/>
                <p:nvPr/>
              </p:nvSpPr>
              <p:spPr>
                <a:xfrm>
                  <a:off x="8004484" y="5393398"/>
                  <a:ext cx="451838" cy="7477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b="1" dirty="0">
                      <a:solidFill>
                        <a:srgbClr val="FFFF00"/>
                      </a:solidFill>
                    </a:rPr>
                    <a:t>B</a:t>
                  </a: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4EA61CB-0C87-CC83-53D0-6C06FAADAF7A}"/>
                    </a:ext>
                  </a:extLst>
                </p:cNvPr>
                <p:cNvSpPr txBox="1"/>
                <p:nvPr/>
              </p:nvSpPr>
              <p:spPr>
                <a:xfrm>
                  <a:off x="11151045" y="5305434"/>
                  <a:ext cx="451838" cy="7477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b="1" dirty="0">
                      <a:solidFill>
                        <a:srgbClr val="FFFF00"/>
                      </a:solidFill>
                    </a:rPr>
                    <a:t>C</a:t>
                  </a:r>
                </a:p>
              </p:txBody>
            </p:sp>
          </p:grpSp>
          <p:sp>
            <p:nvSpPr>
              <p:cNvPr id="69" name="Arc 68">
                <a:extLst>
                  <a:ext uri="{FF2B5EF4-FFF2-40B4-BE49-F238E27FC236}">
                    <a16:creationId xmlns:a16="http://schemas.microsoft.com/office/drawing/2014/main" id="{9E4DC19A-5620-099F-6124-8E16E358F7C2}"/>
                  </a:ext>
                </a:extLst>
              </p:cNvPr>
              <p:cNvSpPr/>
              <p:nvPr/>
            </p:nvSpPr>
            <p:spPr>
              <a:xfrm>
                <a:off x="872473" y="2733621"/>
                <a:ext cx="817304" cy="817304"/>
              </a:xfrm>
              <a:prstGeom prst="arc">
                <a:avLst/>
              </a:prstGeom>
              <a:ln w="3810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46DAE88-0BE6-6732-3473-1166B37D85BA}"/>
                  </a:ext>
                </a:extLst>
              </p:cNvPr>
              <p:cNvSpPr txBox="1"/>
              <p:nvPr/>
            </p:nvSpPr>
            <p:spPr>
              <a:xfrm>
                <a:off x="1404768" y="2389583"/>
                <a:ext cx="6334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i="0" dirty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effectLst/>
                    <a:latin typeface="Google Sans"/>
                  </a:rPr>
                  <a:t>90</a:t>
                </a:r>
                <a:r>
                  <a:rPr lang="en-US" sz="2400" b="1" i="0" dirty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effectLst/>
                    <a:latin typeface="Google Sans"/>
                    <a:sym typeface="Symbol" panose="05050102010706020507" pitchFamily="18" charset="2"/>
                  </a:rPr>
                  <a:t></a:t>
                </a:r>
                <a:endParaRPr lang="en-US" sz="2400" b="1" dirty="0">
                  <a:solidFill>
                    <a:schemeClr val="accent4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71" name="Arc 70">
                <a:extLst>
                  <a:ext uri="{FF2B5EF4-FFF2-40B4-BE49-F238E27FC236}">
                    <a16:creationId xmlns:a16="http://schemas.microsoft.com/office/drawing/2014/main" id="{9C7162B8-6E3C-F16C-7482-7B97C79F06FA}"/>
                  </a:ext>
                </a:extLst>
              </p:cNvPr>
              <p:cNvSpPr/>
              <p:nvPr/>
            </p:nvSpPr>
            <p:spPr>
              <a:xfrm rot="14212899">
                <a:off x="2368443" y="2546064"/>
                <a:ext cx="817304" cy="817304"/>
              </a:xfrm>
              <a:prstGeom prst="arc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6D98791-1AF5-C4A2-89B2-141BBA303EC7}"/>
                  </a:ext>
                </a:extLst>
              </p:cNvPr>
              <p:cNvSpPr txBox="1"/>
              <p:nvPr/>
            </p:nvSpPr>
            <p:spPr>
              <a:xfrm>
                <a:off x="2431342" y="2782423"/>
                <a:ext cx="25772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sym typeface="Symbol" panose="05050102010706020507" pitchFamily="18" charset="2"/>
                  </a:rPr>
                  <a:t></a:t>
                </a:r>
                <a:endParaRPr lang="en-US" sz="2000" b="1" dirty="0">
                  <a:solidFill>
                    <a:schemeClr val="accent4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B0F37D6-2A14-AA08-EA6D-D7E2E46B1FA9}"/>
                  </a:ext>
                </a:extLst>
              </p:cNvPr>
              <p:cNvSpPr txBox="1"/>
              <p:nvPr/>
            </p:nvSpPr>
            <p:spPr>
              <a:xfrm>
                <a:off x="1085618" y="5891760"/>
                <a:ext cx="18566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 err="1">
                    <a:solidFill>
                      <a:schemeClr val="accent4">
                        <a:lumMod val="20000"/>
                        <a:lumOff val="80000"/>
                      </a:schemeClr>
                    </a:solidFill>
                  </a:rPr>
                  <a:t>লম্ব</a:t>
                </a:r>
                <a:endParaRPr lang="en-US" sz="2400" b="1" dirty="0">
                  <a:solidFill>
                    <a:schemeClr val="accent4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79B4F69-8ADD-E662-9648-52A947DF9837}"/>
                  </a:ext>
                </a:extLst>
              </p:cNvPr>
              <p:cNvSpPr txBox="1"/>
              <p:nvPr/>
            </p:nvSpPr>
            <p:spPr>
              <a:xfrm rot="2968746">
                <a:off x="1276072" y="1767034"/>
                <a:ext cx="21519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 err="1">
                    <a:solidFill>
                      <a:schemeClr val="accent4">
                        <a:lumMod val="20000"/>
                        <a:lumOff val="80000"/>
                      </a:schemeClr>
                    </a:solidFill>
                  </a:rPr>
                  <a:t>অতিভূজ</a:t>
                </a:r>
                <a:endParaRPr lang="en-US" sz="2400" b="1" dirty="0">
                  <a:solidFill>
                    <a:schemeClr val="accent4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6105832-461E-B6C4-5922-BAD408AC3AB9}"/>
                  </a:ext>
                </a:extLst>
              </p:cNvPr>
              <p:cNvSpPr txBox="1"/>
              <p:nvPr/>
            </p:nvSpPr>
            <p:spPr>
              <a:xfrm>
                <a:off x="423812" y="3200550"/>
                <a:ext cx="32791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 err="1">
                    <a:solidFill>
                      <a:schemeClr val="accent4">
                        <a:lumMod val="20000"/>
                        <a:lumOff val="80000"/>
                      </a:schemeClr>
                    </a:solidFill>
                  </a:rPr>
                  <a:t>ভূমি</a:t>
                </a:r>
                <a:endParaRPr lang="en-US" sz="2400" b="1" dirty="0">
                  <a:solidFill>
                    <a:schemeClr val="accent4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42F74A5-210B-5F44-B83B-35BF282915C8}"/>
                  </a:ext>
                </a:extLst>
              </p:cNvPr>
              <p:cNvSpPr txBox="1"/>
              <p:nvPr/>
            </p:nvSpPr>
            <p:spPr>
              <a:xfrm>
                <a:off x="-4581132" y="997113"/>
                <a:ext cx="5704072" cy="1694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400" dirty="0">
                    <a:solidFill>
                      <a:schemeClr val="bg1"/>
                    </a:solidFill>
                  </a:rPr>
                  <a:t>90</a:t>
                </a:r>
                <a:r>
                  <a:rPr lang="en-US" sz="24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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কোনের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বিপরীত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বাহু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হবে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অতিভূজ</a:t>
                </a: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4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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কোনের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বিপরীত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বাহু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হবে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লম্ব</a:t>
                </a: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400" dirty="0" err="1">
                    <a:solidFill>
                      <a:schemeClr val="bg1"/>
                    </a:solidFill>
                  </a:rPr>
                  <a:t>বাকি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বাহুটি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হবে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ভূমি</a:t>
                </a:r>
                <a:endParaRPr 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4E9AD80-950A-01AE-6050-E77C8C5BAFF4}"/>
                  </a:ext>
                </a:extLst>
              </p:cNvPr>
              <p:cNvSpPr txBox="1"/>
              <p:nvPr/>
            </p:nvSpPr>
            <p:spPr>
              <a:xfrm>
                <a:off x="-4507840" y="2678620"/>
                <a:ext cx="5776492" cy="586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400" dirty="0" err="1">
                    <a:solidFill>
                      <a:schemeClr val="bg1"/>
                    </a:solidFill>
                  </a:rPr>
                  <a:t>তাহলে,AC</a:t>
                </a:r>
                <a:r>
                  <a:rPr lang="en-US" sz="2400" dirty="0">
                    <a:solidFill>
                      <a:schemeClr val="bg1"/>
                    </a:solidFill>
                  </a:rPr>
                  <a:t>=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অতিভূজ</a:t>
                </a:r>
                <a:r>
                  <a:rPr lang="en-US" sz="2400" dirty="0">
                    <a:solidFill>
                      <a:schemeClr val="bg1"/>
                    </a:solidFill>
                  </a:rPr>
                  <a:t>, AB=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লম্ব</a:t>
                </a:r>
                <a:r>
                  <a:rPr lang="en-US" sz="2400" dirty="0">
                    <a:solidFill>
                      <a:schemeClr val="bg1"/>
                    </a:solidFill>
                  </a:rPr>
                  <a:t>, BC=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ভূমি</a:t>
                </a:r>
                <a:endParaRPr lang="en-US" sz="24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DD918131-8033-4968-6446-AC53B84B3607}"/>
                  </a:ext>
                </a:extLst>
              </p:cNvPr>
              <p:cNvGrpSpPr/>
              <p:nvPr/>
            </p:nvGrpSpPr>
            <p:grpSpPr>
              <a:xfrm>
                <a:off x="858761" y="3582270"/>
                <a:ext cx="2521976" cy="2718909"/>
                <a:chOff x="9463975" y="4348241"/>
                <a:chExt cx="2521976" cy="2718909"/>
              </a:xfrm>
            </p:grpSpPr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8C2AAE81-B391-2590-7E67-59E017D4E69C}"/>
                    </a:ext>
                  </a:extLst>
                </p:cNvPr>
                <p:cNvGrpSpPr/>
                <p:nvPr/>
              </p:nvGrpSpPr>
              <p:grpSpPr>
                <a:xfrm flipH="1">
                  <a:off x="9463975" y="4348241"/>
                  <a:ext cx="2213760" cy="2718909"/>
                  <a:chOff x="8825206" y="2295830"/>
                  <a:chExt cx="3723160" cy="4187739"/>
                </a:xfrm>
              </p:grpSpPr>
              <p:sp>
                <p:nvSpPr>
                  <p:cNvPr id="85" name="Right Triangle 84">
                    <a:extLst>
                      <a:ext uri="{FF2B5EF4-FFF2-40B4-BE49-F238E27FC236}">
                        <a16:creationId xmlns:a16="http://schemas.microsoft.com/office/drawing/2014/main" id="{7547DA73-F7BA-505A-3145-7E1585C25E6A}"/>
                      </a:ext>
                    </a:extLst>
                  </p:cNvPr>
                  <p:cNvSpPr/>
                  <p:nvPr/>
                </p:nvSpPr>
                <p:spPr>
                  <a:xfrm>
                    <a:off x="9176408" y="3026656"/>
                    <a:ext cx="2835797" cy="2835800"/>
                  </a:xfrm>
                  <a:prstGeom prst="rtTriangle">
                    <a:avLst/>
                  </a:prstGeom>
                  <a:noFill/>
                  <a:ln w="57150"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/>
                  </a:p>
                </p:txBody>
              </p:sp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E1D4E370-9350-E448-93CA-66E5ED390F23}"/>
                      </a:ext>
                    </a:extLst>
                  </p:cNvPr>
                  <p:cNvSpPr txBox="1"/>
                  <p:nvPr/>
                </p:nvSpPr>
                <p:spPr>
                  <a:xfrm>
                    <a:off x="9104613" y="2295830"/>
                    <a:ext cx="451836" cy="8058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b="1" dirty="0">
                        <a:solidFill>
                          <a:srgbClr val="FFFF00"/>
                        </a:solidFill>
                      </a:rPr>
                      <a:t>D</a:t>
                    </a:r>
                  </a:p>
                </p:txBody>
              </p:sp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D9F099F8-2E63-CB11-7377-F22FD17D2829}"/>
                      </a:ext>
                    </a:extLst>
                  </p:cNvPr>
                  <p:cNvSpPr txBox="1"/>
                  <p:nvPr/>
                </p:nvSpPr>
                <p:spPr>
                  <a:xfrm>
                    <a:off x="8825206" y="5677691"/>
                    <a:ext cx="451836" cy="8058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b="1" dirty="0">
                        <a:solidFill>
                          <a:srgbClr val="FFFF00"/>
                        </a:solidFill>
                      </a:rPr>
                      <a:t>F</a:t>
                    </a:r>
                  </a:p>
                </p:txBody>
              </p:sp>
              <p:sp>
                <p:nvSpPr>
                  <p:cNvPr id="187" name="TextBox 186">
                    <a:extLst>
                      <a:ext uri="{FF2B5EF4-FFF2-40B4-BE49-F238E27FC236}">
                        <a16:creationId xmlns:a16="http://schemas.microsoft.com/office/drawing/2014/main" id="{C26F425A-D824-45C8-A2E4-DDF377D567D3}"/>
                      </a:ext>
                    </a:extLst>
                  </p:cNvPr>
                  <p:cNvSpPr txBox="1"/>
                  <p:nvPr/>
                </p:nvSpPr>
                <p:spPr>
                  <a:xfrm>
                    <a:off x="12096530" y="5394972"/>
                    <a:ext cx="451836" cy="8058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b="1" dirty="0">
                        <a:solidFill>
                          <a:srgbClr val="FFFF00"/>
                        </a:solidFill>
                      </a:rPr>
                      <a:t>E</a:t>
                    </a:r>
                  </a:p>
                </p:txBody>
              </p:sp>
            </p:grpSp>
            <p:sp>
              <p:nvSpPr>
                <p:cNvPr id="80" name="Arc 79">
                  <a:extLst>
                    <a:ext uri="{FF2B5EF4-FFF2-40B4-BE49-F238E27FC236}">
                      <a16:creationId xmlns:a16="http://schemas.microsoft.com/office/drawing/2014/main" id="{531A7F88-722D-2248-F672-05E14475B96A}"/>
                    </a:ext>
                  </a:extLst>
                </p:cNvPr>
                <p:cNvSpPr/>
                <p:nvPr/>
              </p:nvSpPr>
              <p:spPr>
                <a:xfrm rot="15902330">
                  <a:off x="11168647" y="6215092"/>
                  <a:ext cx="817304" cy="817304"/>
                </a:xfrm>
                <a:prstGeom prst="arc">
                  <a:avLst>
                    <a:gd name="adj1" fmla="val 16200000"/>
                    <a:gd name="adj2" fmla="val 20781199"/>
                  </a:avLst>
                </a:prstGeom>
                <a:ln w="381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9D5896B-9E65-E035-D138-F4423A5C81C0}"/>
                    </a:ext>
                  </a:extLst>
                </p:cNvPr>
                <p:cNvSpPr txBox="1"/>
                <p:nvPr/>
              </p:nvSpPr>
              <p:spPr>
                <a:xfrm>
                  <a:off x="10847875" y="5996959"/>
                  <a:ext cx="63345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i="0" dirty="0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effectLst/>
                      <a:latin typeface="Google Sans"/>
                    </a:rPr>
                    <a:t>90</a:t>
                  </a:r>
                  <a:r>
                    <a:rPr lang="en-US" sz="2400" b="1" i="0" dirty="0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effectLst/>
                      <a:latin typeface="Google Sans"/>
                      <a:sym typeface="Symbol" panose="05050102010706020507" pitchFamily="18" charset="2"/>
                    </a:rPr>
                    <a:t></a:t>
                  </a:r>
                  <a:endParaRPr lang="en-US" sz="2400" b="1" dirty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endParaRPr>
                </a:p>
              </p:txBody>
            </p:sp>
            <p:sp>
              <p:nvSpPr>
                <p:cNvPr id="83" name="Arc 82">
                  <a:extLst>
                    <a:ext uri="{FF2B5EF4-FFF2-40B4-BE49-F238E27FC236}">
                      <a16:creationId xmlns:a16="http://schemas.microsoft.com/office/drawing/2014/main" id="{E90302EF-0213-6175-2402-4637D774D4E3}"/>
                    </a:ext>
                  </a:extLst>
                </p:cNvPr>
                <p:cNvSpPr/>
                <p:nvPr/>
              </p:nvSpPr>
              <p:spPr>
                <a:xfrm rot="10248966">
                  <a:off x="11008410" y="4639838"/>
                  <a:ext cx="817304" cy="817304"/>
                </a:xfrm>
                <a:prstGeom prst="arc">
                  <a:avLst>
                    <a:gd name="adj1" fmla="val 16200000"/>
                    <a:gd name="adj2" fmla="val 20565278"/>
                  </a:avLst>
                </a:prstGeom>
                <a:ln w="381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2F79DB2D-323D-15AF-7E33-C090106D21C9}"/>
                    </a:ext>
                  </a:extLst>
                </p:cNvPr>
                <p:cNvSpPr txBox="1"/>
                <p:nvPr/>
              </p:nvSpPr>
              <p:spPr>
                <a:xfrm>
                  <a:off x="11164603" y="5048490"/>
                  <a:ext cx="25772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000" b="1" dirty="0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sym typeface="Symbol" panose="05050102010706020507" pitchFamily="18" charset="2"/>
                    </a:rPr>
                    <a:t></a:t>
                  </a:r>
                  <a:endParaRPr lang="en-US" sz="2000" b="1" dirty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endParaRPr>
                </a:p>
              </p:txBody>
            </p:sp>
          </p:grp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9C71486-3D09-6EE2-A6F7-D277C7B683BE}"/>
                  </a:ext>
                </a:extLst>
              </p:cNvPr>
              <p:cNvSpPr txBox="1"/>
              <p:nvPr/>
            </p:nvSpPr>
            <p:spPr>
              <a:xfrm>
                <a:off x="-4505703" y="4409009"/>
                <a:ext cx="5734645" cy="1685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4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90</a:t>
                </a:r>
                <a:r>
                  <a:rPr lang="en-US" sz="2400" b="1" i="0" dirty="0">
                    <a:solidFill>
                      <a:schemeClr val="bg1"/>
                    </a:solidFill>
                    <a:effectLst/>
                    <a:latin typeface="Google Sans"/>
                    <a:sym typeface="Symbol" panose="05050102010706020507" pitchFamily="18" charset="2"/>
                  </a:rPr>
                  <a:t>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বিপরীত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বাহু</a:t>
                </a:r>
                <a:r>
                  <a:rPr lang="en-US" sz="2400" dirty="0">
                    <a:solidFill>
                      <a:schemeClr val="bg1"/>
                    </a:solidFill>
                  </a:rPr>
                  <a:t> DE,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তাই</a:t>
                </a:r>
                <a:r>
                  <a:rPr lang="en-US" sz="2400" dirty="0">
                    <a:solidFill>
                      <a:schemeClr val="bg1"/>
                    </a:solidFill>
                  </a:rPr>
                  <a:t> DE =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অতিভূজ</a:t>
                </a: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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কোনের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বিপরীত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বাহু</a:t>
                </a:r>
                <a:r>
                  <a:rPr lang="en-US" sz="2400" dirty="0">
                    <a:solidFill>
                      <a:schemeClr val="bg1"/>
                    </a:solidFill>
                  </a:rPr>
                  <a:t> EF,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তাই</a:t>
                </a:r>
                <a:r>
                  <a:rPr lang="en-US" sz="2400" dirty="0">
                    <a:solidFill>
                      <a:schemeClr val="bg1"/>
                    </a:solidFill>
                  </a:rPr>
                  <a:t> EF =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লম্ব</a:t>
                </a: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400" dirty="0" err="1">
                    <a:solidFill>
                      <a:schemeClr val="bg1"/>
                    </a:solidFill>
                  </a:rPr>
                  <a:t>বাকি</a:t>
                </a: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বাহু</a:t>
                </a:r>
                <a:r>
                  <a:rPr lang="en-US" sz="2400" dirty="0">
                    <a:solidFill>
                      <a:schemeClr val="bg1"/>
                    </a:solidFill>
                  </a:rPr>
                  <a:t> DF =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ভূমি</a:t>
                </a:r>
                <a:endParaRPr 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20D023B5-73B3-B359-6EF5-90D52AD9C0D9}"/>
                  </a:ext>
                </a:extLst>
              </p:cNvPr>
              <p:cNvSpPr txBox="1"/>
              <p:nvPr/>
            </p:nvSpPr>
            <p:spPr>
              <a:xfrm rot="16200000">
                <a:off x="-121736" y="1391284"/>
                <a:ext cx="22206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>
                    <a:solidFill>
                      <a:schemeClr val="accent4">
                        <a:lumMod val="20000"/>
                        <a:lumOff val="80000"/>
                      </a:schemeClr>
                    </a:solidFill>
                  </a:rPr>
                  <a:t>লম্ব</a:t>
                </a:r>
                <a:endParaRPr lang="en-US" sz="2400" b="1" dirty="0">
                  <a:solidFill>
                    <a:schemeClr val="accent4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88E35A4E-EE07-628B-C484-A2BC3D79B06A}"/>
                  </a:ext>
                </a:extLst>
              </p:cNvPr>
              <p:cNvSpPr txBox="1"/>
              <p:nvPr/>
            </p:nvSpPr>
            <p:spPr>
              <a:xfrm rot="18717780">
                <a:off x="852523" y="4633775"/>
                <a:ext cx="18660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 err="1">
                    <a:solidFill>
                      <a:schemeClr val="accent4">
                        <a:lumMod val="20000"/>
                        <a:lumOff val="80000"/>
                      </a:schemeClr>
                    </a:solidFill>
                  </a:rPr>
                  <a:t>অতিভূজ</a:t>
                </a:r>
                <a:endParaRPr lang="en-US" sz="2400" b="1" dirty="0">
                  <a:solidFill>
                    <a:schemeClr val="accent4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26D74432-3A64-A370-F50F-7FF670929D7B}"/>
                  </a:ext>
                </a:extLst>
              </p:cNvPr>
              <p:cNvSpPr txBox="1"/>
              <p:nvPr/>
            </p:nvSpPr>
            <p:spPr>
              <a:xfrm rot="16200000">
                <a:off x="2315459" y="4678932"/>
                <a:ext cx="1565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 err="1">
                    <a:solidFill>
                      <a:schemeClr val="accent4">
                        <a:lumMod val="20000"/>
                        <a:lumOff val="80000"/>
                      </a:schemeClr>
                    </a:solidFill>
                  </a:rPr>
                  <a:t>ভূমি</a:t>
                </a:r>
                <a:endParaRPr lang="en-US" sz="2400" b="1" dirty="0">
                  <a:solidFill>
                    <a:schemeClr val="accent4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4A1C479C-8AB9-1E61-7419-5D2E456D8612}"/>
                </a:ext>
              </a:extLst>
            </p:cNvPr>
            <p:cNvSpPr txBox="1"/>
            <p:nvPr/>
          </p:nvSpPr>
          <p:spPr>
            <a:xfrm>
              <a:off x="-4224315" y="221301"/>
              <a:ext cx="611705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err="1">
                  <a:solidFill>
                    <a:srgbClr val="99FFCC"/>
                  </a:solidFill>
                </a:rPr>
                <a:t>সমকোণী</a:t>
              </a:r>
              <a:r>
                <a:rPr lang="en-US" sz="3200" b="1" dirty="0">
                  <a:solidFill>
                    <a:srgbClr val="99FFCC"/>
                  </a:solidFill>
                </a:rPr>
                <a:t> </a:t>
              </a:r>
              <a:r>
                <a:rPr lang="en-US" sz="3200" b="1" dirty="0" err="1">
                  <a:solidFill>
                    <a:srgbClr val="99FFCC"/>
                  </a:solidFill>
                </a:rPr>
                <a:t>ত্রিভূজ</a:t>
              </a:r>
              <a:r>
                <a:rPr lang="en-US" sz="3200" b="1" dirty="0">
                  <a:solidFill>
                    <a:srgbClr val="99FFCC"/>
                  </a:solidFill>
                </a:rPr>
                <a:t> </a:t>
              </a:r>
              <a:r>
                <a:rPr lang="en-US" sz="3200" b="1" dirty="0" err="1">
                  <a:solidFill>
                    <a:srgbClr val="99FFCC"/>
                  </a:solidFill>
                </a:rPr>
                <a:t>এর</a:t>
              </a:r>
              <a:r>
                <a:rPr lang="en-US" sz="3200" b="1" dirty="0">
                  <a:solidFill>
                    <a:srgbClr val="99FFCC"/>
                  </a:solidFill>
                </a:rPr>
                <a:t> </a:t>
              </a:r>
              <a:r>
                <a:rPr lang="en-US" sz="3200" b="1" dirty="0" err="1">
                  <a:solidFill>
                    <a:srgbClr val="99FFCC"/>
                  </a:solidFill>
                </a:rPr>
                <a:t>বাহু</a:t>
              </a:r>
              <a:r>
                <a:rPr lang="en-US" sz="3200" b="1" dirty="0">
                  <a:solidFill>
                    <a:srgbClr val="99FFCC"/>
                  </a:solidFill>
                </a:rPr>
                <a:t> </a:t>
              </a:r>
              <a:r>
                <a:rPr lang="en-US" sz="3200" b="1" dirty="0" err="1">
                  <a:solidFill>
                    <a:srgbClr val="99FFCC"/>
                  </a:solidFill>
                </a:rPr>
                <a:t>নির্ণয়</a:t>
              </a:r>
              <a:endParaRPr lang="en-US" sz="3200" b="1" dirty="0">
                <a:solidFill>
                  <a:srgbClr val="99FFCC"/>
                </a:solidFill>
              </a:endParaRPr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A9747BAA-7A64-FEC6-77CC-927100C8B33A}"/>
              </a:ext>
            </a:extLst>
          </p:cNvPr>
          <p:cNvGrpSpPr/>
          <p:nvPr/>
        </p:nvGrpSpPr>
        <p:grpSpPr>
          <a:xfrm>
            <a:off x="-8427058" y="-33926"/>
            <a:ext cx="11958762" cy="6858000"/>
            <a:chOff x="-8427058" y="-33926"/>
            <a:chExt cx="11958762" cy="68580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B66AAD0-3CD7-443C-8FA1-FED23D27CB12}"/>
                </a:ext>
              </a:extLst>
            </p:cNvPr>
            <p:cNvGrpSpPr/>
            <p:nvPr/>
          </p:nvGrpSpPr>
          <p:grpSpPr>
            <a:xfrm>
              <a:off x="-8427058" y="-33926"/>
              <a:ext cx="11958762" cy="6858000"/>
              <a:chOff x="-8427058" y="-33926"/>
              <a:chExt cx="11958762" cy="6858000"/>
            </a:xfrm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17604E23-34FD-43A7-9ECB-68D3439DAEEE}"/>
                  </a:ext>
                </a:extLst>
              </p:cNvPr>
              <p:cNvGrpSpPr/>
              <p:nvPr/>
            </p:nvGrpSpPr>
            <p:grpSpPr>
              <a:xfrm>
                <a:off x="-8427058" y="-33926"/>
                <a:ext cx="11958762" cy="6858000"/>
                <a:chOff x="-413468" y="0"/>
                <a:chExt cx="11958762" cy="6858000"/>
              </a:xfrm>
              <a:effectLst>
                <a:outerShdw blurRad="190500" dist="88900" algn="l" rotWithShape="0">
                  <a:prstClr val="black">
                    <a:alpha val="51000"/>
                  </a:prstClr>
                </a:outerShdw>
              </a:effectLst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6D0C8C29-E670-4FE3-BB93-0016476CCFCC}"/>
                    </a:ext>
                  </a:extLst>
                </p:cNvPr>
                <p:cNvSpPr/>
                <p:nvPr/>
              </p:nvSpPr>
              <p:spPr>
                <a:xfrm>
                  <a:off x="-413468" y="0"/>
                  <a:ext cx="11680466" cy="6858000"/>
                </a:xfrm>
                <a:prstGeom prst="rect">
                  <a:avLst/>
                </a:prstGeom>
                <a:solidFill>
                  <a:srgbClr val="EA82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06FB1159-EF14-40D7-9540-6CDF9734BA75}"/>
                    </a:ext>
                  </a:extLst>
                </p:cNvPr>
                <p:cNvGrpSpPr/>
                <p:nvPr/>
              </p:nvGrpSpPr>
              <p:grpSpPr>
                <a:xfrm>
                  <a:off x="11187485" y="776577"/>
                  <a:ext cx="357809" cy="408167"/>
                  <a:chOff x="11593002" y="368410"/>
                  <a:chExt cx="357809" cy="408167"/>
                </a:xfrm>
                <a:solidFill>
                  <a:srgbClr val="EA8282"/>
                </a:solidFill>
              </p:grpSpPr>
              <p:sp>
                <p:nvSpPr>
                  <p:cNvPr id="90" name="Rectangle: Top Corners Rounded 89">
                    <a:extLst>
                      <a:ext uri="{FF2B5EF4-FFF2-40B4-BE49-F238E27FC236}">
                        <a16:creationId xmlns:a16="http://schemas.microsoft.com/office/drawing/2014/main" id="{95ABA932-EB56-485A-98ED-99B6E93FEE9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611555" y="437321"/>
                    <a:ext cx="408167" cy="270345"/>
                  </a:xfrm>
                  <a:prstGeom prst="round2Same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32FBC0C3-79FC-4C3B-B139-A9604D2914BD}"/>
                      </a:ext>
                    </a:extLst>
                  </p:cNvPr>
                  <p:cNvSpPr txBox="1"/>
                  <p:nvPr/>
                </p:nvSpPr>
                <p:spPr>
                  <a:xfrm>
                    <a:off x="11593002" y="368410"/>
                    <a:ext cx="270345" cy="400110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srgbClr val="5F94E3"/>
                        </a:solidFill>
                        <a:latin typeface="Bodoni MT Black" panose="02070A03080606020203" pitchFamily="18" charset="0"/>
                      </a:rPr>
                      <a:t>B</a:t>
                    </a:r>
                  </a:p>
                </p:txBody>
              </p:sp>
            </p:grpSp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0A103F3-2F9A-4FE6-BF69-30BD7B3024A4}"/>
                  </a:ext>
                </a:extLst>
              </p:cNvPr>
              <p:cNvSpPr/>
              <p:nvPr/>
            </p:nvSpPr>
            <p:spPr>
              <a:xfrm>
                <a:off x="-3493273" y="1164772"/>
                <a:ext cx="1787609" cy="9571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04C1EE-338B-4E08-8D97-F10F9F300E7B}"/>
                  </a:ext>
                </a:extLst>
              </p:cNvPr>
              <p:cNvSpPr/>
              <p:nvPr/>
            </p:nvSpPr>
            <p:spPr>
              <a:xfrm>
                <a:off x="-5099059" y="2020631"/>
                <a:ext cx="5059643" cy="85100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7EEC5830-9174-1E99-F6B2-D7DC7C6A9DB8}"/>
                </a:ext>
              </a:extLst>
            </p:cNvPr>
            <p:cNvSpPr txBox="1"/>
            <p:nvPr/>
          </p:nvSpPr>
          <p:spPr>
            <a:xfrm>
              <a:off x="-2406317" y="164488"/>
              <a:ext cx="49603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 err="1">
                  <a:solidFill>
                    <a:srgbClr val="99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সুত্রাবলি</a:t>
              </a:r>
              <a:endParaRPr lang="en-US" sz="3600" b="1" dirty="0">
                <a:solidFill>
                  <a:srgbClr val="99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B01EDCD9-AE96-9A38-289C-DD2D19C12037}"/>
                    </a:ext>
                  </a:extLst>
                </p:cNvPr>
                <p:cNvSpPr txBox="1"/>
                <p:nvPr/>
              </p:nvSpPr>
              <p:spPr>
                <a:xfrm>
                  <a:off x="-4794570" y="1487083"/>
                  <a:ext cx="2859885" cy="8461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i="1" smtClean="0">
                            <a:solidFill>
                              <a:srgbClr val="99FFCC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2400" b="0" i="1" smtClean="0">
                            <a:solidFill>
                              <a:srgbClr val="99FFCC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99FFCC"/>
                            </a:solidFill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a:rPr lang="en-US" sz="2400" i="1" smtClean="0">
                            <a:solidFill>
                              <a:srgbClr val="99FFC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লম্ব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অতিভূজ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𝐴𝐶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solidFill>
                      <a:srgbClr val="99FFCC"/>
                    </a:solidFill>
                  </a:endParaRPr>
                </a:p>
              </p:txBody>
            </p:sp>
          </mc:Choice>
          <mc:Fallback xmlns="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B01EDCD9-AE96-9A38-289C-DD2D19C12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794570" y="1487083"/>
                  <a:ext cx="2859885" cy="84619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2D5FDE66-F4FC-749C-F49C-917179268BA3}"/>
                    </a:ext>
                  </a:extLst>
                </p:cNvPr>
                <p:cNvSpPr txBox="1"/>
                <p:nvPr/>
              </p:nvSpPr>
              <p:spPr>
                <a:xfrm>
                  <a:off x="-4794570" y="3385850"/>
                  <a:ext cx="2895152" cy="9294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i="1" dirty="0" smtClean="0">
                            <a:solidFill>
                              <a:srgbClr val="99FF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c</m:t>
                        </m:r>
                        <m:r>
                          <a:rPr lang="en-US" sz="2400" b="0" i="1" dirty="0" smtClean="0">
                            <a:solidFill>
                              <a:srgbClr val="99FF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𝑜𝑠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99FFCC"/>
                            </a:solidFill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a:rPr lang="en-US" sz="2400" i="1" smtClean="0">
                            <a:solidFill>
                              <a:srgbClr val="99FFC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ভূমি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𝐵𝐶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অতিভূজ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𝐴𝐶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solidFill>
                      <a:srgbClr val="99FFCC"/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2D5FDE66-F4FC-749C-F49C-917179268B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794570" y="3385850"/>
                  <a:ext cx="2895152" cy="9294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E7D18562-8A2E-CB8A-783A-CA19306A3F2A}"/>
                    </a:ext>
                  </a:extLst>
                </p:cNvPr>
                <p:cNvSpPr txBox="1"/>
                <p:nvPr/>
              </p:nvSpPr>
              <p:spPr>
                <a:xfrm>
                  <a:off x="-4794570" y="5367846"/>
                  <a:ext cx="2318070" cy="8461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rgbClr val="99FF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𝑡</m:t>
                        </m:r>
                        <m:r>
                          <a:rPr lang="en-US" sz="2400" b="0" i="1" dirty="0" smtClean="0">
                            <a:solidFill>
                              <a:srgbClr val="99FF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𝑎𝑛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99FFCC"/>
                            </a:solidFill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a:rPr lang="en-US" sz="2400" i="1" smtClean="0">
                            <a:solidFill>
                              <a:srgbClr val="99FFC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লম্ব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ভূমি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𝐵𝐶</m:t>
                            </m:r>
                            <m:r>
                              <a:rPr lang="en-US" sz="2400" b="0" i="1" smtClean="0">
                                <a:solidFill>
                                  <a:srgbClr val="99FFCC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solidFill>
                      <a:srgbClr val="99FFCC"/>
                    </a:solidFill>
                  </a:endParaRPr>
                </a:p>
              </p:txBody>
            </p:sp>
          </mc:Choice>
          <mc:Fallback xmlns="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E7D18562-8A2E-CB8A-783A-CA19306A3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794570" y="5367846"/>
                  <a:ext cx="2318070" cy="84619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F5CDBCF-49BC-8536-0025-2188AEBD4F32}"/>
                </a:ext>
              </a:extLst>
            </p:cNvPr>
            <p:cNvGrpSpPr/>
            <p:nvPr/>
          </p:nvGrpSpPr>
          <p:grpSpPr>
            <a:xfrm>
              <a:off x="-894667" y="1600536"/>
              <a:ext cx="3570208" cy="3466423"/>
              <a:chOff x="8133180" y="2483563"/>
              <a:chExt cx="3570208" cy="3466423"/>
            </a:xfrm>
          </p:grpSpPr>
          <p:sp>
            <p:nvSpPr>
              <p:cNvPr id="215" name="Right Triangle 214">
                <a:extLst>
                  <a:ext uri="{FF2B5EF4-FFF2-40B4-BE49-F238E27FC236}">
                    <a16:creationId xmlns:a16="http://schemas.microsoft.com/office/drawing/2014/main" id="{468DD20E-455D-0E55-21E4-6F09A79B4E39}"/>
                  </a:ext>
                </a:extLst>
              </p:cNvPr>
              <p:cNvSpPr/>
              <p:nvPr/>
            </p:nvSpPr>
            <p:spPr>
              <a:xfrm>
                <a:off x="8484233" y="2951544"/>
                <a:ext cx="2835798" cy="2835798"/>
              </a:xfrm>
              <a:prstGeom prst="rtTriangle">
                <a:avLst/>
              </a:prstGeom>
              <a:noFill/>
              <a:ln w="57150">
                <a:solidFill>
                  <a:srgbClr val="99FF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26B18469-69A3-CD65-339A-4DD050E719D8}"/>
                  </a:ext>
                </a:extLst>
              </p:cNvPr>
              <p:cNvSpPr txBox="1"/>
              <p:nvPr/>
            </p:nvSpPr>
            <p:spPr>
              <a:xfrm>
                <a:off x="8291352" y="2483563"/>
                <a:ext cx="4518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1526E52-47AE-99A1-B3F6-0CBB8A66A19F}"/>
                  </a:ext>
                </a:extLst>
              </p:cNvPr>
              <p:cNvSpPr txBox="1"/>
              <p:nvPr/>
            </p:nvSpPr>
            <p:spPr>
              <a:xfrm>
                <a:off x="8133180" y="5426766"/>
                <a:ext cx="4518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CC211E42-DEC2-1A8F-D76A-D5EAC568086D}"/>
                  </a:ext>
                </a:extLst>
              </p:cNvPr>
              <p:cNvSpPr txBox="1"/>
              <p:nvPr/>
            </p:nvSpPr>
            <p:spPr>
              <a:xfrm>
                <a:off x="11251551" y="5236600"/>
                <a:ext cx="4518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</p:grp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BB760C5D-6F71-B800-DF13-1E5A2F64913B}"/>
                </a:ext>
              </a:extLst>
            </p:cNvPr>
            <p:cNvSpPr txBox="1"/>
            <p:nvPr/>
          </p:nvSpPr>
          <p:spPr>
            <a:xfrm rot="2653678">
              <a:off x="282341" y="3195510"/>
              <a:ext cx="17993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err="1">
                  <a:solidFill>
                    <a:schemeClr val="bg1"/>
                  </a:solidFill>
                </a:rPr>
                <a:t>অতিভূজ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62F84A80-C494-5141-EDDA-09F028CC9F4C}"/>
                </a:ext>
              </a:extLst>
            </p:cNvPr>
            <p:cNvSpPr txBox="1"/>
            <p:nvPr/>
          </p:nvSpPr>
          <p:spPr>
            <a:xfrm rot="16200000">
              <a:off x="-1641000" y="2824148"/>
              <a:ext cx="17993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err="1">
                  <a:solidFill>
                    <a:schemeClr val="bg1"/>
                  </a:solidFill>
                </a:rPr>
                <a:t>লম্ব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3EBE0A39-3B00-D97E-9C5B-FE68210279F3}"/>
                </a:ext>
              </a:extLst>
            </p:cNvPr>
            <p:cNvSpPr txBox="1"/>
            <p:nvPr/>
          </p:nvSpPr>
          <p:spPr>
            <a:xfrm>
              <a:off x="363366" y="4977978"/>
              <a:ext cx="17993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err="1">
                  <a:solidFill>
                    <a:schemeClr val="bg1"/>
                  </a:solidFill>
                </a:rPr>
                <a:t>ভূমি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22" name="Arc 221">
              <a:extLst>
                <a:ext uri="{FF2B5EF4-FFF2-40B4-BE49-F238E27FC236}">
                  <a16:creationId xmlns:a16="http://schemas.microsoft.com/office/drawing/2014/main" id="{FA8F65A9-6DE8-C60C-C98F-DC203016AB2F}"/>
                </a:ext>
              </a:extLst>
            </p:cNvPr>
            <p:cNvSpPr/>
            <p:nvPr/>
          </p:nvSpPr>
          <p:spPr>
            <a:xfrm>
              <a:off x="-1126749" y="4286019"/>
              <a:ext cx="1210944" cy="1210944"/>
            </a:xfrm>
            <a:prstGeom prst="arc">
              <a:avLst/>
            </a:prstGeom>
            <a:ln w="57150">
              <a:solidFill>
                <a:srgbClr val="99FF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Arc 222">
              <a:extLst>
                <a:ext uri="{FF2B5EF4-FFF2-40B4-BE49-F238E27FC236}">
                  <a16:creationId xmlns:a16="http://schemas.microsoft.com/office/drawing/2014/main" id="{9930455E-6A6F-CA45-62A2-03201B81EBF1}"/>
                </a:ext>
              </a:extLst>
            </p:cNvPr>
            <p:cNvSpPr/>
            <p:nvPr/>
          </p:nvSpPr>
          <p:spPr>
            <a:xfrm rot="13955571">
              <a:off x="1613099" y="4301468"/>
              <a:ext cx="751687" cy="751687"/>
            </a:xfrm>
            <a:prstGeom prst="arc">
              <a:avLst/>
            </a:prstGeom>
            <a:ln w="38100">
              <a:solidFill>
                <a:srgbClr val="99FF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16E5292A-F7F5-78F4-7666-54D6754292EC}"/>
                </a:ext>
              </a:extLst>
            </p:cNvPr>
            <p:cNvSpPr txBox="1"/>
            <p:nvPr/>
          </p:nvSpPr>
          <p:spPr>
            <a:xfrm>
              <a:off x="-86058" y="4118871"/>
              <a:ext cx="8988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90</a:t>
              </a:r>
              <a:r>
                <a:rPr lang="en-US" sz="2400" b="1" i="0" dirty="0">
                  <a:solidFill>
                    <a:schemeClr val="bg1"/>
                  </a:solidFill>
                  <a:effectLst/>
                  <a:latin typeface="Google Sans"/>
                  <a:sym typeface="Symbol" panose="05050102010706020507" pitchFamily="18" charset="2"/>
                </a:rPr>
                <a:t>  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405F450C-B5A2-512D-55D6-C2389DC02AEC}"/>
                </a:ext>
              </a:extLst>
            </p:cNvPr>
            <p:cNvSpPr txBox="1"/>
            <p:nvPr/>
          </p:nvSpPr>
          <p:spPr>
            <a:xfrm>
              <a:off x="1703894" y="4456105"/>
              <a:ext cx="42821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sym typeface="Symbol" panose="05050102010706020507" pitchFamily="18" charset="2"/>
                </a:rPr>
                <a:t>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ED4A2F8E-E1F2-6D4A-3FD6-19E26FD7F9E0}"/>
                </a:ext>
              </a:extLst>
            </p:cNvPr>
            <p:cNvSpPr txBox="1"/>
            <p:nvPr/>
          </p:nvSpPr>
          <p:spPr>
            <a:xfrm>
              <a:off x="-4794570" y="960868"/>
              <a:ext cx="4038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err="1">
                  <a:solidFill>
                    <a:schemeClr val="bg1"/>
                  </a:solidFill>
                </a:rPr>
                <a:t>সাগরে</a:t>
              </a:r>
              <a:r>
                <a:rPr lang="en-US" sz="2400" b="1" dirty="0">
                  <a:solidFill>
                    <a:schemeClr val="bg1"/>
                  </a:solidFill>
                </a:rPr>
                <a:t> </a:t>
              </a:r>
              <a:r>
                <a:rPr lang="en-US" sz="2400" b="1" dirty="0" err="1">
                  <a:solidFill>
                    <a:schemeClr val="bg1"/>
                  </a:solidFill>
                </a:rPr>
                <a:t>লবন</a:t>
              </a:r>
              <a:r>
                <a:rPr lang="en-US" sz="2400" b="1" dirty="0">
                  <a:solidFill>
                    <a:schemeClr val="bg1"/>
                  </a:solidFill>
                </a:rPr>
                <a:t> </a:t>
              </a:r>
              <a:r>
                <a:rPr lang="en-US" sz="2400" b="1" dirty="0" err="1">
                  <a:solidFill>
                    <a:schemeClr val="bg1"/>
                  </a:solidFill>
                </a:rPr>
                <a:t>অনেক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29B00B6E-BA9D-8F6F-2C50-135B58C8417F}"/>
                </a:ext>
              </a:extLst>
            </p:cNvPr>
            <p:cNvSpPr txBox="1"/>
            <p:nvPr/>
          </p:nvSpPr>
          <p:spPr>
            <a:xfrm>
              <a:off x="-4768064" y="2922856"/>
              <a:ext cx="4038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err="1">
                  <a:solidFill>
                    <a:schemeClr val="bg1"/>
                  </a:solidFill>
                </a:rPr>
                <a:t>কবরে</a:t>
              </a:r>
              <a:r>
                <a:rPr lang="en-US" sz="2400" b="1" dirty="0">
                  <a:solidFill>
                    <a:schemeClr val="bg1"/>
                  </a:solidFill>
                </a:rPr>
                <a:t> </a:t>
              </a:r>
              <a:r>
                <a:rPr lang="en-US" sz="2400" b="1" dirty="0" err="1">
                  <a:solidFill>
                    <a:schemeClr val="bg1"/>
                  </a:solidFill>
                </a:rPr>
                <a:t>ভূত</a:t>
              </a:r>
              <a:r>
                <a:rPr lang="en-US" sz="2400" b="1" dirty="0">
                  <a:solidFill>
                    <a:schemeClr val="bg1"/>
                  </a:solidFill>
                </a:rPr>
                <a:t> </a:t>
              </a:r>
              <a:r>
                <a:rPr lang="en-US" sz="2400" b="1" dirty="0" err="1">
                  <a:solidFill>
                    <a:schemeClr val="bg1"/>
                  </a:solidFill>
                </a:rPr>
                <a:t>অনেক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4C10546D-2B6A-E911-943A-384873C4D90A}"/>
                </a:ext>
              </a:extLst>
            </p:cNvPr>
            <p:cNvSpPr txBox="1"/>
            <p:nvPr/>
          </p:nvSpPr>
          <p:spPr>
            <a:xfrm>
              <a:off x="-4764110" y="4906180"/>
              <a:ext cx="4038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err="1">
                  <a:solidFill>
                    <a:schemeClr val="bg1"/>
                  </a:solidFill>
                </a:rPr>
                <a:t>ট্যারা</a:t>
              </a:r>
              <a:r>
                <a:rPr lang="en-US" sz="2400" b="1" dirty="0">
                  <a:solidFill>
                    <a:schemeClr val="bg1"/>
                  </a:solidFill>
                </a:rPr>
                <a:t> </a:t>
              </a:r>
              <a:r>
                <a:rPr lang="en-US" sz="2400" b="1" dirty="0" err="1">
                  <a:solidFill>
                    <a:schemeClr val="bg1"/>
                  </a:solidFill>
                </a:rPr>
                <a:t>লম্বা</a:t>
              </a:r>
              <a:r>
                <a:rPr lang="en-US" sz="2400" b="1" dirty="0">
                  <a:solidFill>
                    <a:schemeClr val="bg1"/>
                  </a:solidFill>
                </a:rPr>
                <a:t> </a:t>
              </a:r>
              <a:r>
                <a:rPr lang="en-US" sz="2400" b="1" dirty="0" err="1">
                  <a:solidFill>
                    <a:schemeClr val="bg1"/>
                  </a:solidFill>
                </a:rPr>
                <a:t>ভূত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67" name="Straight Arrow Connector 266">
              <a:extLst>
                <a:ext uri="{FF2B5EF4-FFF2-40B4-BE49-F238E27FC236}">
                  <a16:creationId xmlns:a16="http://schemas.microsoft.com/office/drawing/2014/main" id="{F54B4ACA-2F14-7773-FAE0-A61857618E03}"/>
                </a:ext>
              </a:extLst>
            </p:cNvPr>
            <p:cNvCxnSpPr/>
            <p:nvPr/>
          </p:nvCxnSpPr>
          <p:spPr>
            <a:xfrm>
              <a:off x="-4351674" y="1318265"/>
              <a:ext cx="0" cy="4166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Arrow Connector 28">
              <a:extLst>
                <a:ext uri="{FF2B5EF4-FFF2-40B4-BE49-F238E27FC236}">
                  <a16:creationId xmlns:a16="http://schemas.microsoft.com/office/drawing/2014/main" id="{C3952A58-A058-E556-D529-1734626B50C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3690278" y="1393021"/>
              <a:ext cx="324754" cy="197535"/>
            </a:xfrm>
            <a:prstGeom prst="bentConnector3">
              <a:avLst>
                <a:gd name="adj1" fmla="val 101621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ctor: Elbow 268">
              <a:extLst>
                <a:ext uri="{FF2B5EF4-FFF2-40B4-BE49-F238E27FC236}">
                  <a16:creationId xmlns:a16="http://schemas.microsoft.com/office/drawing/2014/main" id="{4608EA40-FD34-7FE5-86ED-DBE4C49C72A2}"/>
                </a:ext>
              </a:extLst>
            </p:cNvPr>
            <p:cNvCxnSpPr>
              <a:cxnSpLocks/>
            </p:cNvCxnSpPr>
            <p:nvPr/>
          </p:nvCxnSpPr>
          <p:spPr>
            <a:xfrm>
              <a:off x="-1947722" y="1209376"/>
              <a:ext cx="182880" cy="914400"/>
            </a:xfrm>
            <a:prstGeom prst="bentConnector3">
              <a:avLst>
                <a:gd name="adj1" fmla="val 18602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>
              <a:extLst>
                <a:ext uri="{FF2B5EF4-FFF2-40B4-BE49-F238E27FC236}">
                  <a16:creationId xmlns:a16="http://schemas.microsoft.com/office/drawing/2014/main" id="{74E85D8E-6FC3-EA5A-039D-F1F78A4BCF61}"/>
                </a:ext>
              </a:extLst>
            </p:cNvPr>
            <p:cNvCxnSpPr/>
            <p:nvPr/>
          </p:nvCxnSpPr>
          <p:spPr>
            <a:xfrm>
              <a:off x="-4412634" y="3340105"/>
              <a:ext cx="0" cy="4166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8">
              <a:extLst>
                <a:ext uri="{FF2B5EF4-FFF2-40B4-BE49-F238E27FC236}">
                  <a16:creationId xmlns:a16="http://schemas.microsoft.com/office/drawing/2014/main" id="{AC2F4DBE-A28A-08BF-6F81-1F7FD219BFC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3710598" y="3414861"/>
              <a:ext cx="324754" cy="197535"/>
            </a:xfrm>
            <a:prstGeom prst="bentConnector3">
              <a:avLst>
                <a:gd name="adj1" fmla="val 101621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ctor: Elbow 271">
              <a:extLst>
                <a:ext uri="{FF2B5EF4-FFF2-40B4-BE49-F238E27FC236}">
                  <a16:creationId xmlns:a16="http://schemas.microsoft.com/office/drawing/2014/main" id="{B5837C51-A43C-0C0A-F82D-A7F08243F9C0}"/>
                </a:ext>
              </a:extLst>
            </p:cNvPr>
            <p:cNvCxnSpPr>
              <a:cxnSpLocks/>
            </p:cNvCxnSpPr>
            <p:nvPr/>
          </p:nvCxnSpPr>
          <p:spPr>
            <a:xfrm>
              <a:off x="-2089962" y="3210896"/>
              <a:ext cx="182880" cy="914400"/>
            </a:xfrm>
            <a:prstGeom prst="bentConnector3">
              <a:avLst>
                <a:gd name="adj1" fmla="val 18602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BA64564C-1FA8-F326-C455-82C91136D41D}"/>
                </a:ext>
              </a:extLst>
            </p:cNvPr>
            <p:cNvCxnSpPr/>
            <p:nvPr/>
          </p:nvCxnSpPr>
          <p:spPr>
            <a:xfrm>
              <a:off x="-4432954" y="5240025"/>
              <a:ext cx="0" cy="4166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8">
              <a:extLst>
                <a:ext uri="{FF2B5EF4-FFF2-40B4-BE49-F238E27FC236}">
                  <a16:creationId xmlns:a16="http://schemas.microsoft.com/office/drawing/2014/main" id="{F136AF56-C66C-DCB5-3EBB-FEE1402E3F2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3893478" y="5314781"/>
              <a:ext cx="324754" cy="197535"/>
            </a:xfrm>
            <a:prstGeom prst="bentConnector3">
              <a:avLst>
                <a:gd name="adj1" fmla="val 101621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ctor: Elbow 274">
              <a:extLst>
                <a:ext uri="{FF2B5EF4-FFF2-40B4-BE49-F238E27FC236}">
                  <a16:creationId xmlns:a16="http://schemas.microsoft.com/office/drawing/2014/main" id="{83419A7C-C6C8-BD94-DF69-EB1720A5ACA5}"/>
                </a:ext>
              </a:extLst>
            </p:cNvPr>
            <p:cNvCxnSpPr>
              <a:cxnSpLocks/>
            </p:cNvCxnSpPr>
            <p:nvPr/>
          </p:nvCxnSpPr>
          <p:spPr>
            <a:xfrm>
              <a:off x="-2618282" y="5110816"/>
              <a:ext cx="182880" cy="914400"/>
            </a:xfrm>
            <a:prstGeom prst="bentConnector3">
              <a:avLst>
                <a:gd name="adj1" fmla="val 18602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0DB6AAA7-D635-8DA3-B674-73B269AC48AD}"/>
              </a:ext>
            </a:extLst>
          </p:cNvPr>
          <p:cNvGrpSpPr/>
          <p:nvPr/>
        </p:nvGrpSpPr>
        <p:grpSpPr>
          <a:xfrm>
            <a:off x="-8887378" y="-33926"/>
            <a:ext cx="11950811" cy="6858000"/>
            <a:chOff x="-8887378" y="-33926"/>
            <a:chExt cx="11950811" cy="6858000"/>
          </a:xfrm>
        </p:grpSpPr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2564D15E-58D5-C2CC-2F78-98C5FDAB55DE}"/>
                </a:ext>
              </a:extLst>
            </p:cNvPr>
            <p:cNvGrpSpPr/>
            <p:nvPr/>
          </p:nvGrpSpPr>
          <p:grpSpPr>
            <a:xfrm>
              <a:off x="-8887378" y="-33926"/>
              <a:ext cx="11950811" cy="6858000"/>
              <a:chOff x="-8887378" y="-33926"/>
              <a:chExt cx="11950811" cy="68580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51C27A1-FDD9-4FEE-A4AC-5ABB32176906}"/>
                  </a:ext>
                </a:extLst>
              </p:cNvPr>
              <p:cNvGrpSpPr/>
              <p:nvPr/>
            </p:nvGrpSpPr>
            <p:grpSpPr>
              <a:xfrm>
                <a:off x="-8887378" y="-33926"/>
                <a:ext cx="11950811" cy="6858000"/>
                <a:chOff x="-705486" y="0"/>
                <a:chExt cx="11950811" cy="6858000"/>
              </a:xfrm>
            </p:grpSpPr>
            <p:grpSp>
              <p:nvGrpSpPr>
                <p:cNvPr id="121" name="Group 120">
                  <a:extLst>
                    <a:ext uri="{FF2B5EF4-FFF2-40B4-BE49-F238E27FC236}">
                      <a16:creationId xmlns:a16="http://schemas.microsoft.com/office/drawing/2014/main" id="{0465D45E-341A-4251-B1FA-2CBBC52F066D}"/>
                    </a:ext>
                  </a:extLst>
                </p:cNvPr>
                <p:cNvGrpSpPr/>
                <p:nvPr/>
              </p:nvGrpSpPr>
              <p:grpSpPr>
                <a:xfrm>
                  <a:off x="-705486" y="0"/>
                  <a:ext cx="11950811" cy="6858000"/>
                  <a:chOff x="-826936" y="0"/>
                  <a:chExt cx="11950811" cy="6858000"/>
                </a:xfrm>
                <a:effectLst>
                  <a:outerShdw blurRad="190500" dist="88900" algn="l" rotWithShape="0">
                    <a:prstClr val="black">
                      <a:alpha val="51000"/>
                    </a:prstClr>
                  </a:outerShdw>
                </a:effectLst>
              </p:grpSpPr>
              <p:sp>
                <p:nvSpPr>
                  <p:cNvPr id="92" name="Rectangle 91">
                    <a:extLst>
                      <a:ext uri="{FF2B5EF4-FFF2-40B4-BE49-F238E27FC236}">
                        <a16:creationId xmlns:a16="http://schemas.microsoft.com/office/drawing/2014/main" id="{5B093B10-73E9-46F7-B31A-0B4952F35168}"/>
                      </a:ext>
                    </a:extLst>
                  </p:cNvPr>
                  <p:cNvSpPr/>
                  <p:nvPr/>
                </p:nvSpPr>
                <p:spPr>
                  <a:xfrm>
                    <a:off x="-826936" y="0"/>
                    <a:ext cx="11680466" cy="6858000"/>
                  </a:xfrm>
                  <a:prstGeom prst="rect">
                    <a:avLst/>
                  </a:prstGeom>
                  <a:solidFill>
                    <a:srgbClr val="DBF07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id="{484A8227-2111-4234-B84B-BB157D3E1578}"/>
                      </a:ext>
                    </a:extLst>
                  </p:cNvPr>
                  <p:cNvGrpSpPr/>
                  <p:nvPr/>
                </p:nvGrpSpPr>
                <p:grpSpPr>
                  <a:xfrm>
                    <a:off x="10766066" y="1176687"/>
                    <a:ext cx="357809" cy="408167"/>
                    <a:chOff x="11593002" y="368410"/>
                    <a:chExt cx="357809" cy="408167"/>
                  </a:xfrm>
                  <a:solidFill>
                    <a:srgbClr val="DBF070"/>
                  </a:solidFill>
                </p:grpSpPr>
                <p:sp>
                  <p:nvSpPr>
                    <p:cNvPr id="94" name="Rectangle: Top Corners Rounded 93">
                      <a:extLst>
                        <a:ext uri="{FF2B5EF4-FFF2-40B4-BE49-F238E27FC236}">
                          <a16:creationId xmlns:a16="http://schemas.microsoft.com/office/drawing/2014/main" id="{E5E66EC0-A3CE-490B-B9E9-558DC32CB49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1611555" y="437321"/>
                      <a:ext cx="408167" cy="270345"/>
                    </a:xfrm>
                    <a:prstGeom prst="round2Same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5" name="TextBox 94">
                      <a:extLst>
                        <a:ext uri="{FF2B5EF4-FFF2-40B4-BE49-F238E27FC236}">
                          <a16:creationId xmlns:a16="http://schemas.microsoft.com/office/drawing/2014/main" id="{8C889CA9-B9CC-4907-AA38-D9D3592648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593002" y="368410"/>
                      <a:ext cx="270345" cy="400110"/>
                    </a:xfrm>
                    <a:prstGeom prst="rect">
                      <a:avLst/>
                    </a:prstGeom>
                    <a:grp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000" dirty="0">
                          <a:solidFill>
                            <a:srgbClr val="EA8282"/>
                          </a:solidFill>
                          <a:latin typeface="Bodoni MT Black" panose="02070A03080606020203" pitchFamily="18" charset="0"/>
                        </a:rPr>
                        <a:t>C</a:t>
                      </a:r>
                    </a:p>
                  </p:txBody>
                </p:sp>
              </p:grp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F5FE009-434D-431D-B4A1-7EF16C402CB4}"/>
                    </a:ext>
                  </a:extLst>
                </p:cNvPr>
                <p:cNvSpPr txBox="1"/>
                <p:nvPr/>
              </p:nvSpPr>
              <p:spPr>
                <a:xfrm>
                  <a:off x="4077922" y="491564"/>
                  <a:ext cx="5200153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4400" b="1" u="sng" dirty="0"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0F29A7AC-48C4-054F-0918-F833D1DB8216}"/>
                  </a:ext>
                </a:extLst>
              </p:cNvPr>
              <p:cNvSpPr txBox="1"/>
              <p:nvPr/>
            </p:nvSpPr>
            <p:spPr>
              <a:xfrm>
                <a:off x="-5192729" y="778747"/>
                <a:ext cx="718039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chemeClr val="accent1">
                        <a:lumMod val="50000"/>
                      </a:schemeClr>
                    </a:solidFill>
                  </a:rPr>
                  <a:t>sin </a:t>
                </a:r>
                <a:r>
                  <a:rPr lang="en-US" sz="3600" dirty="0">
                    <a:solidFill>
                      <a:schemeClr val="accent1">
                        <a:lumMod val="50000"/>
                      </a:schemeClr>
                    </a:solidFill>
                    <a:sym typeface="Wingdings" panose="05000000000000000000" pitchFamily="2" charset="2"/>
                  </a:rPr>
                  <a:t> cosec </a:t>
                </a:r>
                <a:r>
                  <a:rPr lang="en-US" sz="36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| cos  sec | </a:t>
                </a:r>
                <a:r>
                  <a:rPr lang="en-US" sz="3600" dirty="0">
                    <a:solidFill>
                      <a:srgbClr val="7030A0"/>
                    </a:solidFill>
                  </a:rPr>
                  <a:t>tan </a:t>
                </a:r>
                <a:r>
                  <a:rPr lang="en-US" sz="3600" dirty="0">
                    <a:solidFill>
                      <a:srgbClr val="7030A0"/>
                    </a:solidFill>
                    <a:sym typeface="Wingdings" panose="05000000000000000000" pitchFamily="2" charset="2"/>
                  </a:rPr>
                  <a:t> cot</a:t>
                </a:r>
                <a:endParaRPr lang="en-US" sz="3600" dirty="0">
                  <a:solidFill>
                    <a:srgbClr val="7030A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7" name="TextBox 276">
                    <a:extLst>
                      <a:ext uri="{FF2B5EF4-FFF2-40B4-BE49-F238E27FC236}">
                        <a16:creationId xmlns:a16="http://schemas.microsoft.com/office/drawing/2014/main" id="{F8D5CA2F-6D7C-B983-1802-F25236BD1BAB}"/>
                      </a:ext>
                    </a:extLst>
                  </p:cNvPr>
                  <p:cNvSpPr txBox="1"/>
                  <p:nvPr/>
                </p:nvSpPr>
                <p:spPr>
                  <a:xfrm>
                    <a:off x="-5258711" y="1516450"/>
                    <a:ext cx="2859885" cy="84619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rgbClr val="002060"/>
                              </a:solidFill>
                              <a:sym typeface="Symbol" panose="05050102010706020507" pitchFamily="18" charset="2"/>
                            </a:rPr>
                            <m:t></m:t>
                          </m:r>
                          <m:r>
                            <a:rPr lang="en-US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লম্ব</m:t>
                              </m:r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অতিভূজ</m:t>
                              </m:r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77" name="TextBox 276">
                    <a:extLst>
                      <a:ext uri="{FF2B5EF4-FFF2-40B4-BE49-F238E27FC236}">
                        <a16:creationId xmlns:a16="http://schemas.microsoft.com/office/drawing/2014/main" id="{F8D5CA2F-6D7C-B983-1802-F25236BD1B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5258711" y="1516450"/>
                    <a:ext cx="2859885" cy="84619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8" name="TextBox 277">
                    <a:extLst>
                      <a:ext uri="{FF2B5EF4-FFF2-40B4-BE49-F238E27FC236}">
                        <a16:creationId xmlns:a16="http://schemas.microsoft.com/office/drawing/2014/main" id="{136784C2-8809-64DD-F36B-ABE89AF15C4B}"/>
                      </a:ext>
                    </a:extLst>
                  </p:cNvPr>
                  <p:cNvSpPr txBox="1"/>
                  <p:nvPr/>
                </p:nvSpPr>
                <p:spPr>
                  <a:xfrm>
                    <a:off x="-5360192" y="2977462"/>
                    <a:ext cx="2895152" cy="92942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c</m:t>
                          </m:r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𝑜𝑠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rgbClr val="FF0000"/>
                              </a:solidFill>
                              <a:sym typeface="Symbol" panose="05050102010706020507" pitchFamily="18" charset="2"/>
                            </a:rPr>
                            <m:t></m:t>
                          </m:r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ভূমি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𝐵𝐶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অতিভূজ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oMath>
                      </m:oMathPara>
                    </a14:m>
                    <a:endParaRPr lang="en-US" sz="2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8" name="TextBox 277">
                    <a:extLst>
                      <a:ext uri="{FF2B5EF4-FFF2-40B4-BE49-F238E27FC236}">
                        <a16:creationId xmlns:a16="http://schemas.microsoft.com/office/drawing/2014/main" id="{136784C2-8809-64DD-F36B-ABE89AF15C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5360192" y="2977462"/>
                    <a:ext cx="2895152" cy="92942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9" name="TextBox 278">
                    <a:extLst>
                      <a:ext uri="{FF2B5EF4-FFF2-40B4-BE49-F238E27FC236}">
                        <a16:creationId xmlns:a16="http://schemas.microsoft.com/office/drawing/2014/main" id="{93C2A6F9-9D75-C1A7-DD19-1C3C05534861}"/>
                      </a:ext>
                    </a:extLst>
                  </p:cNvPr>
                  <p:cNvSpPr txBox="1"/>
                  <p:nvPr/>
                </p:nvSpPr>
                <p:spPr>
                  <a:xfrm>
                    <a:off x="-5442260" y="5691951"/>
                    <a:ext cx="2318070" cy="84619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𝑡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𝑎𝑛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rgbClr val="7030A0"/>
                              </a:solidFill>
                              <a:sym typeface="Symbol" panose="05050102010706020507" pitchFamily="18" charset="2"/>
                            </a:rPr>
                            <m:t></m:t>
                          </m:r>
                          <m: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লম্ব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ভূমি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𝐵𝐶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79" name="TextBox 278">
                    <a:extLst>
                      <a:ext uri="{FF2B5EF4-FFF2-40B4-BE49-F238E27FC236}">
                        <a16:creationId xmlns:a16="http://schemas.microsoft.com/office/drawing/2014/main" id="{93C2A6F9-9D75-C1A7-DD19-1C3C055348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5442260" y="5691951"/>
                    <a:ext cx="2318070" cy="84619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80" name="Group 279">
                <a:extLst>
                  <a:ext uri="{FF2B5EF4-FFF2-40B4-BE49-F238E27FC236}">
                    <a16:creationId xmlns:a16="http://schemas.microsoft.com/office/drawing/2014/main" id="{2B9A9039-3951-85E7-9DB9-3508896E9E14}"/>
                  </a:ext>
                </a:extLst>
              </p:cNvPr>
              <p:cNvGrpSpPr/>
              <p:nvPr/>
            </p:nvGrpSpPr>
            <p:grpSpPr>
              <a:xfrm>
                <a:off x="-1835610" y="2421212"/>
                <a:ext cx="3013920" cy="3117596"/>
                <a:chOff x="7839927" y="2980134"/>
                <a:chExt cx="3013920" cy="3117596"/>
              </a:xfrm>
            </p:grpSpPr>
            <p:sp>
              <p:nvSpPr>
                <p:cNvPr id="281" name="Right Triangle 280">
                  <a:extLst>
                    <a:ext uri="{FF2B5EF4-FFF2-40B4-BE49-F238E27FC236}">
                      <a16:creationId xmlns:a16="http://schemas.microsoft.com/office/drawing/2014/main" id="{97BE8B0B-8756-4E82-B041-4E6743411140}"/>
                    </a:ext>
                  </a:extLst>
                </p:cNvPr>
                <p:cNvSpPr/>
                <p:nvPr/>
              </p:nvSpPr>
              <p:spPr>
                <a:xfrm>
                  <a:off x="8259596" y="3123751"/>
                  <a:ext cx="2380433" cy="2507144"/>
                </a:xfrm>
                <a:prstGeom prst="rtTriangle">
                  <a:avLst/>
                </a:prstGeom>
                <a:noFill/>
                <a:ln w="57150">
                  <a:solidFill>
                    <a:srgbClr val="CC1E1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2" name="TextBox 281">
                  <a:extLst>
                    <a:ext uri="{FF2B5EF4-FFF2-40B4-BE49-F238E27FC236}">
                      <a16:creationId xmlns:a16="http://schemas.microsoft.com/office/drawing/2014/main" id="{CF21456E-A779-B8B0-63D8-3BD782AB6729}"/>
                    </a:ext>
                  </a:extLst>
                </p:cNvPr>
                <p:cNvSpPr txBox="1"/>
                <p:nvPr/>
              </p:nvSpPr>
              <p:spPr>
                <a:xfrm>
                  <a:off x="7839927" y="2980134"/>
                  <a:ext cx="45183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b="1" dirty="0">
                      <a:solidFill>
                        <a:srgbClr val="437250"/>
                      </a:solidFill>
                    </a:rPr>
                    <a:t>A</a:t>
                  </a:r>
                </a:p>
              </p:txBody>
            </p:sp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EFC70ACA-34B2-E645-71B9-B6AC323470EB}"/>
                    </a:ext>
                  </a:extLst>
                </p:cNvPr>
                <p:cNvSpPr txBox="1"/>
                <p:nvPr/>
              </p:nvSpPr>
              <p:spPr>
                <a:xfrm>
                  <a:off x="8148607" y="5538177"/>
                  <a:ext cx="45183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b="1" dirty="0">
                      <a:solidFill>
                        <a:srgbClr val="437250"/>
                      </a:solidFill>
                    </a:rPr>
                    <a:t>B</a:t>
                  </a:r>
                </a:p>
              </p:txBody>
            </p:sp>
            <p:sp>
              <p:nvSpPr>
                <p:cNvPr id="284" name="TextBox 283">
                  <a:extLst>
                    <a:ext uri="{FF2B5EF4-FFF2-40B4-BE49-F238E27FC236}">
                      <a16:creationId xmlns:a16="http://schemas.microsoft.com/office/drawing/2014/main" id="{1241E47D-E1EF-47EB-EEE9-024F1EB30F35}"/>
                    </a:ext>
                  </a:extLst>
                </p:cNvPr>
                <p:cNvSpPr txBox="1"/>
                <p:nvPr/>
              </p:nvSpPr>
              <p:spPr>
                <a:xfrm>
                  <a:off x="10402010" y="5574510"/>
                  <a:ext cx="45183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b="1" dirty="0">
                      <a:solidFill>
                        <a:srgbClr val="437250"/>
                      </a:solidFill>
                    </a:rPr>
                    <a:t>C</a:t>
                  </a:r>
                </a:p>
              </p:txBody>
            </p:sp>
          </p:grp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345D03C-BC11-5BF6-6A4E-BA862B277478}"/>
                  </a:ext>
                </a:extLst>
              </p:cNvPr>
              <p:cNvSpPr txBox="1"/>
              <p:nvPr/>
            </p:nvSpPr>
            <p:spPr>
              <a:xfrm rot="2781058">
                <a:off x="-656262" y="3698251"/>
                <a:ext cx="17993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/>
                  <a:t>অতিভূজ</a:t>
                </a:r>
                <a:endParaRPr lang="en-US" sz="2400" b="1" dirty="0"/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0BE77E36-7B09-3C13-E62E-6FFBD693DD68}"/>
                  </a:ext>
                </a:extLst>
              </p:cNvPr>
              <p:cNvSpPr txBox="1"/>
              <p:nvPr/>
            </p:nvSpPr>
            <p:spPr>
              <a:xfrm rot="16200000">
                <a:off x="-2117342" y="3587749"/>
                <a:ext cx="9588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/>
                  <a:t>লম্ব</a:t>
                </a:r>
                <a:endParaRPr lang="en-US" sz="2400" b="1" dirty="0"/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6B652C7C-2D7B-3E82-DD5D-5DB2DDDA3A03}"/>
                  </a:ext>
                </a:extLst>
              </p:cNvPr>
              <p:cNvSpPr txBox="1"/>
              <p:nvPr/>
            </p:nvSpPr>
            <p:spPr>
              <a:xfrm>
                <a:off x="-677460" y="5118300"/>
                <a:ext cx="10876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/>
                  <a:t>ভূমি</a:t>
                </a:r>
                <a:endParaRPr lang="en-US" sz="2400" b="1" dirty="0"/>
              </a:p>
            </p:txBody>
          </p:sp>
          <p:sp>
            <p:nvSpPr>
              <p:cNvPr id="288" name="Arc 287">
                <a:extLst>
                  <a:ext uri="{FF2B5EF4-FFF2-40B4-BE49-F238E27FC236}">
                    <a16:creationId xmlns:a16="http://schemas.microsoft.com/office/drawing/2014/main" id="{42EA97C8-7C32-545D-4CE0-6504B11935D7}"/>
                  </a:ext>
                </a:extLst>
              </p:cNvPr>
              <p:cNvSpPr/>
              <p:nvPr/>
            </p:nvSpPr>
            <p:spPr>
              <a:xfrm>
                <a:off x="-2023486" y="4478173"/>
                <a:ext cx="1210944" cy="1210944"/>
              </a:xfrm>
              <a:prstGeom prst="arc">
                <a:avLst>
                  <a:gd name="adj1" fmla="val 16200000"/>
                  <a:gd name="adj2" fmla="val 21388800"/>
                </a:avLst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" name="Arc 288">
                <a:extLst>
                  <a:ext uri="{FF2B5EF4-FFF2-40B4-BE49-F238E27FC236}">
                    <a16:creationId xmlns:a16="http://schemas.microsoft.com/office/drawing/2014/main" id="{058ACC8C-25CC-0592-42A1-8487130CA2CA}"/>
                  </a:ext>
                </a:extLst>
              </p:cNvPr>
              <p:cNvSpPr/>
              <p:nvPr/>
            </p:nvSpPr>
            <p:spPr>
              <a:xfrm rot="13955571">
                <a:off x="289505" y="4461667"/>
                <a:ext cx="751687" cy="751687"/>
              </a:xfrm>
              <a:prstGeom prst="arc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34A4F822-2133-E97B-95D8-E3BB26BFCF78}"/>
                  </a:ext>
                </a:extLst>
              </p:cNvPr>
              <p:cNvSpPr txBox="1"/>
              <p:nvPr/>
            </p:nvSpPr>
            <p:spPr>
              <a:xfrm>
                <a:off x="-992411" y="4340469"/>
                <a:ext cx="8988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90</a:t>
                </a:r>
                <a:r>
                  <a:rPr lang="en-US" sz="2400" b="1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latin typeface="Google Sans"/>
                    <a:sym typeface="Symbol" panose="05050102010706020507" pitchFamily="18" charset="2"/>
                  </a:rPr>
                  <a:t>  </a:t>
                </a:r>
                <a:endParaRPr lang="en-US" sz="2400" b="1" dirty="0"/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DE1EB2C4-BC71-A68C-2070-4313C3D28D14}"/>
                  </a:ext>
                </a:extLst>
              </p:cNvPr>
              <p:cNvSpPr txBox="1"/>
              <p:nvPr/>
            </p:nvSpPr>
            <p:spPr>
              <a:xfrm>
                <a:off x="369447" y="4652487"/>
                <a:ext cx="4437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ym typeface="Symbol" panose="05050102010706020507" pitchFamily="18" charset="2"/>
                  </a:rPr>
                  <a:t></a:t>
                </a:r>
                <a:endParaRPr lang="en-US" sz="2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6" name="TextBox 305">
                    <a:extLst>
                      <a:ext uri="{FF2B5EF4-FFF2-40B4-BE49-F238E27FC236}">
                        <a16:creationId xmlns:a16="http://schemas.microsoft.com/office/drawing/2014/main" id="{88B180E3-4970-AC08-7F1E-D6CFFB117E81}"/>
                      </a:ext>
                    </a:extLst>
                  </p:cNvPr>
                  <p:cNvSpPr txBox="1"/>
                  <p:nvPr/>
                </p:nvSpPr>
                <p:spPr>
                  <a:xfrm>
                    <a:off x="-1724810" y="1545315"/>
                    <a:ext cx="3177280" cy="85914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𝑜𝑠𝑒𝑐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rgbClr val="002060"/>
                              </a:solidFill>
                              <a:sym typeface="Symbol" panose="05050102010706020507" pitchFamily="18" charset="2"/>
                            </a:rPr>
                            <m:t></m:t>
                          </m:r>
                          <m:r>
                            <a:rPr lang="en-US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অতিভূজ</m:t>
                              </m:r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লম্ব</m:t>
                              </m:r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06" name="TextBox 305">
                    <a:extLst>
                      <a:ext uri="{FF2B5EF4-FFF2-40B4-BE49-F238E27FC236}">
                        <a16:creationId xmlns:a16="http://schemas.microsoft.com/office/drawing/2014/main" id="{88B180E3-4970-AC08-7F1E-D6CFFB117E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724810" y="1545315"/>
                    <a:ext cx="3177280" cy="85914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7" name="TextBox 306">
                    <a:extLst>
                      <a:ext uri="{FF2B5EF4-FFF2-40B4-BE49-F238E27FC236}">
                        <a16:creationId xmlns:a16="http://schemas.microsoft.com/office/drawing/2014/main" id="{E0E5DBFA-B6C8-32A6-B4D1-F57B1F2ECC47}"/>
                      </a:ext>
                    </a:extLst>
                  </p:cNvPr>
                  <p:cNvSpPr txBox="1"/>
                  <p:nvPr/>
                </p:nvSpPr>
                <p:spPr>
                  <a:xfrm>
                    <a:off x="-5360192" y="4063762"/>
                    <a:ext cx="2872709" cy="92942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𝑠</m:t>
                          </m:r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𝑒𝑐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rgbClr val="FF0000"/>
                              </a:solidFill>
                              <a:sym typeface="Symbol" panose="05050102010706020507" pitchFamily="18" charset="2"/>
                            </a:rPr>
                            <m:t></m:t>
                          </m:r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অতিভূজ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ভূমি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𝐵𝐶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oMath>
                      </m:oMathPara>
                    </a14:m>
                    <a:endParaRPr lang="en-US" sz="2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7" name="TextBox 306">
                    <a:extLst>
                      <a:ext uri="{FF2B5EF4-FFF2-40B4-BE49-F238E27FC236}">
                        <a16:creationId xmlns:a16="http://schemas.microsoft.com/office/drawing/2014/main" id="{E0E5DBFA-B6C8-32A6-B4D1-F57B1F2ECC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5360192" y="4063762"/>
                    <a:ext cx="2872709" cy="92942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8" name="TextBox 307">
                    <a:extLst>
                      <a:ext uri="{FF2B5EF4-FFF2-40B4-BE49-F238E27FC236}">
                        <a16:creationId xmlns:a16="http://schemas.microsoft.com/office/drawing/2014/main" id="{1062FC05-5863-EB2F-E69F-32CC923F6DE4}"/>
                      </a:ext>
                    </a:extLst>
                  </p:cNvPr>
                  <p:cNvSpPr txBox="1"/>
                  <p:nvPr/>
                </p:nvSpPr>
                <p:spPr>
                  <a:xfrm>
                    <a:off x="-2586825" y="5713165"/>
                    <a:ext cx="2258760" cy="85914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𝑐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𝑜𝑡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rgbClr val="7030A0"/>
                              </a:solidFill>
                              <a:sym typeface="Symbol" panose="05050102010706020507" pitchFamily="18" charset="2"/>
                            </a:rPr>
                            <m:t></m:t>
                          </m:r>
                          <m: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ভূমি</m:t>
                              </m:r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𝐵𝐶</m:t>
                              </m:r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লম্ব</m:t>
                              </m:r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oMath>
                      </m:oMathPara>
                    </a14:m>
                    <a:endParaRPr lang="en-US" sz="24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8" name="TextBox 307">
                    <a:extLst>
                      <a:ext uri="{FF2B5EF4-FFF2-40B4-BE49-F238E27FC236}">
                        <a16:creationId xmlns:a16="http://schemas.microsoft.com/office/drawing/2014/main" id="{1062FC05-5863-EB2F-E69F-32CC923F6D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586825" y="5713165"/>
                    <a:ext cx="2258760" cy="85914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ED42D5C1-A436-FC88-95E9-B9B685343807}"/>
                </a:ext>
              </a:extLst>
            </p:cNvPr>
            <p:cNvSpPr txBox="1"/>
            <p:nvPr/>
          </p:nvSpPr>
          <p:spPr>
            <a:xfrm>
              <a:off x="-4925130" y="213170"/>
              <a:ext cx="60480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সূত্রাবলি</a:t>
              </a:r>
              <a:endPara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05878CEE-6465-9159-D997-79E5933EBCEA}"/>
              </a:ext>
            </a:extLst>
          </p:cNvPr>
          <p:cNvGrpSpPr/>
          <p:nvPr/>
        </p:nvGrpSpPr>
        <p:grpSpPr>
          <a:xfrm>
            <a:off x="-9312534" y="-33926"/>
            <a:ext cx="11946410" cy="6858000"/>
            <a:chOff x="-9312534" y="-33926"/>
            <a:chExt cx="11946410" cy="6858000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16227277-E082-4F8E-B684-2A2282426827}"/>
                </a:ext>
              </a:extLst>
            </p:cNvPr>
            <p:cNvGrpSpPr/>
            <p:nvPr/>
          </p:nvGrpSpPr>
          <p:grpSpPr>
            <a:xfrm>
              <a:off x="-9312534" y="-33926"/>
              <a:ext cx="11946410" cy="6858000"/>
              <a:chOff x="-1240404" y="0"/>
              <a:chExt cx="11946410" cy="6858000"/>
            </a:xfrm>
            <a:effectLst>
              <a:outerShdw blurRad="1905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084B9DD3-CDB3-443B-ACAC-7041CD219AFA}"/>
                  </a:ext>
                </a:extLst>
              </p:cNvPr>
              <p:cNvSpPr/>
              <p:nvPr/>
            </p:nvSpPr>
            <p:spPr>
              <a:xfrm>
                <a:off x="-1240404" y="0"/>
                <a:ext cx="11680466" cy="6858000"/>
              </a:xfrm>
              <a:prstGeom prst="rect">
                <a:avLst/>
              </a:prstGeom>
              <a:solidFill>
                <a:srgbClr val="61C3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583AB8B0-8B74-4ED1-828C-5673CEA375EB}"/>
                  </a:ext>
                </a:extLst>
              </p:cNvPr>
              <p:cNvGrpSpPr/>
              <p:nvPr/>
            </p:nvGrpSpPr>
            <p:grpSpPr>
              <a:xfrm>
                <a:off x="10364525" y="1576797"/>
                <a:ext cx="341481" cy="408167"/>
                <a:chOff x="11593002" y="368410"/>
                <a:chExt cx="341481" cy="408167"/>
              </a:xfrm>
              <a:solidFill>
                <a:srgbClr val="61C39B"/>
              </a:solidFill>
            </p:grpSpPr>
            <p:sp>
              <p:nvSpPr>
                <p:cNvPr id="98" name="Rectangle: Top Corners Rounded 97">
                  <a:extLst>
                    <a:ext uri="{FF2B5EF4-FFF2-40B4-BE49-F238E27FC236}">
                      <a16:creationId xmlns:a16="http://schemas.microsoft.com/office/drawing/2014/main" id="{5524C909-4D35-49CE-9D39-9B7D2E2E8B5D}"/>
                    </a:ext>
                  </a:extLst>
                </p:cNvPr>
                <p:cNvSpPr/>
                <p:nvPr/>
              </p:nvSpPr>
              <p:spPr>
                <a:xfrm rot="5400000">
                  <a:off x="11595227" y="437321"/>
                  <a:ext cx="408167" cy="270345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691FBD55-FFE2-4808-AFE6-0CF3D6765A4B}"/>
                    </a:ext>
                  </a:extLst>
                </p:cNvPr>
                <p:cNvSpPr txBox="1"/>
                <p:nvPr/>
              </p:nvSpPr>
              <p:spPr>
                <a:xfrm>
                  <a:off x="11593002" y="368410"/>
                  <a:ext cx="270345" cy="40011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rgbClr val="DBF070"/>
                      </a:solidFill>
                      <a:latin typeface="Bodoni MT Black" panose="02070A03080606020203" pitchFamily="18" charset="0"/>
                    </a:rPr>
                    <a:t>D</a:t>
                  </a:r>
                </a:p>
              </p:txBody>
            </p:sp>
          </p:grpSp>
        </p:grp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0A6376FD-BAC7-0C5D-77C2-4BBC91867BD9}"/>
                </a:ext>
              </a:extLst>
            </p:cNvPr>
            <p:cNvSpPr txBox="1"/>
            <p:nvPr/>
          </p:nvSpPr>
          <p:spPr>
            <a:xfrm>
              <a:off x="-5468582" y="1012163"/>
              <a:ext cx="71803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accent1">
                      <a:lumMod val="50000"/>
                    </a:schemeClr>
                  </a:solidFill>
                </a:rPr>
                <a:t>sin </a:t>
              </a:r>
              <a:r>
                <a:rPr lang="en-US" sz="3600" dirty="0">
                  <a:solidFill>
                    <a:schemeClr val="accent1">
                      <a:lumMod val="50000"/>
                    </a:schemeClr>
                  </a:solidFill>
                  <a:sym typeface="Wingdings" panose="05000000000000000000" pitchFamily="2" charset="2"/>
                </a:rPr>
                <a:t> cosec </a:t>
              </a:r>
              <a:r>
                <a:rPr lang="en-US" sz="3600" dirty="0">
                  <a:solidFill>
                    <a:srgbClr val="FF0000"/>
                  </a:solidFill>
                  <a:sym typeface="Wingdings" panose="05000000000000000000" pitchFamily="2" charset="2"/>
                </a:rPr>
                <a:t>| cos  sec | </a:t>
              </a:r>
              <a:r>
                <a:rPr lang="en-US" sz="3600" dirty="0">
                  <a:solidFill>
                    <a:srgbClr val="7030A0"/>
                  </a:solidFill>
                </a:rPr>
                <a:t>tan </a:t>
              </a:r>
              <a:r>
                <a:rPr lang="en-US" sz="3600" dirty="0">
                  <a:solidFill>
                    <a:srgbClr val="7030A0"/>
                  </a:solidFill>
                  <a:sym typeface="Wingdings" panose="05000000000000000000" pitchFamily="2" charset="2"/>
                </a:rPr>
                <a:t> cot</a:t>
              </a:r>
              <a:endParaRPr lang="en-US" sz="3600" dirty="0">
                <a:solidFill>
                  <a:srgbClr val="7030A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id="{B1012251-DB6E-DB0B-DD31-13910BDB5947}"/>
                    </a:ext>
                  </a:extLst>
                </p:cNvPr>
                <p:cNvSpPr txBox="1"/>
                <p:nvPr/>
              </p:nvSpPr>
              <p:spPr>
                <a:xfrm>
                  <a:off x="-5126115" y="2146341"/>
                  <a:ext cx="2262607" cy="812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𝑐𝑜𝑠𝑒𝑐</m:t>
                            </m:r>
                            <m:r>
                              <m:rPr>
                                <m:nor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sym typeface="Symbol" panose="05050102010706020507" pitchFamily="18" charset="2"/>
                              </a:rPr>
                              <m:t></m:t>
                            </m:r>
                          </m:den>
                        </m:f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id="{B1012251-DB6E-DB0B-DD31-13910BDB59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126115" y="2146341"/>
                  <a:ext cx="2262607" cy="81208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TextBox 311">
                  <a:extLst>
                    <a:ext uri="{FF2B5EF4-FFF2-40B4-BE49-F238E27FC236}">
                      <a16:creationId xmlns:a16="http://schemas.microsoft.com/office/drawing/2014/main" id="{74EE2911-0FA2-9830-68FB-DDFCD967F747}"/>
                    </a:ext>
                  </a:extLst>
                </p:cNvPr>
                <p:cNvSpPr txBox="1"/>
                <p:nvPr/>
              </p:nvSpPr>
              <p:spPr>
                <a:xfrm>
                  <a:off x="-5106192" y="3241622"/>
                  <a:ext cx="1946815" cy="812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c</m:t>
                        </m:r>
                        <m:r>
                          <a:rPr lang="en-US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𝑜𝑠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𝑠𝑒𝑐</m:t>
                            </m:r>
                            <m:r>
                              <m:rPr>
                                <m:nor/>
                              </m:rPr>
                              <a:rPr lang="en-US" sz="2800" dirty="0">
                                <a:solidFill>
                                  <a:srgbClr val="FF0000"/>
                                </a:solidFill>
                                <a:sym typeface="Symbol" panose="05050102010706020507" pitchFamily="18" charset="2"/>
                              </a:rPr>
                              <m:t></m:t>
                            </m:r>
                          </m:den>
                        </m:f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2" name="TextBox 311">
                  <a:extLst>
                    <a:ext uri="{FF2B5EF4-FFF2-40B4-BE49-F238E27FC236}">
                      <a16:creationId xmlns:a16="http://schemas.microsoft.com/office/drawing/2014/main" id="{74EE2911-0FA2-9830-68FB-DDFCD967F7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106192" y="3241622"/>
                  <a:ext cx="1946815" cy="81208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3" name="TextBox 312">
                  <a:extLst>
                    <a:ext uri="{FF2B5EF4-FFF2-40B4-BE49-F238E27FC236}">
                      <a16:creationId xmlns:a16="http://schemas.microsoft.com/office/drawing/2014/main" id="{B84A6159-6476-7EE1-22C3-7F14E96255AA}"/>
                    </a:ext>
                  </a:extLst>
                </p:cNvPr>
                <p:cNvSpPr txBox="1"/>
                <p:nvPr/>
              </p:nvSpPr>
              <p:spPr>
                <a:xfrm>
                  <a:off x="-5036636" y="4532930"/>
                  <a:ext cx="1969257" cy="812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𝑡</m:t>
                        </m:r>
                        <m:r>
                          <a:rPr lang="en-US" sz="28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𝑎𝑛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7030A0"/>
                            </a:solidFill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a:rPr lang="en-US" sz="28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𝑐𝑜𝑡</m:t>
                            </m:r>
                            <m:r>
                              <m:rPr>
                                <m:nor/>
                              </m:rPr>
                              <a:rPr lang="en-US" sz="2800" dirty="0">
                                <a:solidFill>
                                  <a:srgbClr val="7030A0"/>
                                </a:solidFill>
                                <a:sym typeface="Symbol" panose="05050102010706020507" pitchFamily="18" charset="2"/>
                              </a:rPr>
                              <m:t></m:t>
                            </m:r>
                          </m:den>
                        </m:f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13" name="TextBox 312">
                  <a:extLst>
                    <a:ext uri="{FF2B5EF4-FFF2-40B4-BE49-F238E27FC236}">
                      <a16:creationId xmlns:a16="http://schemas.microsoft.com/office/drawing/2014/main" id="{B84A6159-6476-7EE1-22C3-7F14E96255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036636" y="4532930"/>
                  <a:ext cx="1969257" cy="81208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5" name="TextBox 324">
                  <a:extLst>
                    <a:ext uri="{FF2B5EF4-FFF2-40B4-BE49-F238E27FC236}">
                      <a16:creationId xmlns:a16="http://schemas.microsoft.com/office/drawing/2014/main" id="{97EB7931-6160-0DC1-2E83-0D75EA45FC48}"/>
                    </a:ext>
                  </a:extLst>
                </p:cNvPr>
                <p:cNvSpPr txBox="1"/>
                <p:nvPr/>
              </p:nvSpPr>
              <p:spPr>
                <a:xfrm>
                  <a:off x="-1470810" y="2175235"/>
                  <a:ext cx="2262607" cy="812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𝑜𝑠𝑒𝑐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m:rPr>
                                <m:nor/>
                              </m:rPr>
                              <a:rPr lang="en-US" sz="2800" dirty="0">
                                <a:solidFill>
                                  <a:srgbClr val="002060"/>
                                </a:solidFill>
                                <a:sym typeface="Symbol" panose="05050102010706020507" pitchFamily="18" charset="2"/>
                              </a:rPr>
                              <m:t></m:t>
                            </m:r>
                          </m:den>
                        </m:f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25" name="TextBox 324">
                  <a:extLst>
                    <a:ext uri="{FF2B5EF4-FFF2-40B4-BE49-F238E27FC236}">
                      <a16:creationId xmlns:a16="http://schemas.microsoft.com/office/drawing/2014/main" id="{97EB7931-6160-0DC1-2E83-0D75EA45FC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470810" y="2175235"/>
                  <a:ext cx="2262607" cy="81208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327352A4-46E2-621A-9622-707BC0C874C6}"/>
                    </a:ext>
                  </a:extLst>
                </p:cNvPr>
                <p:cNvSpPr txBox="1"/>
                <p:nvPr/>
              </p:nvSpPr>
              <p:spPr>
                <a:xfrm>
                  <a:off x="-1437806" y="3311977"/>
                  <a:ext cx="1946815" cy="812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</m:t>
                        </m:r>
                        <m:r>
                          <a:rPr lang="en-US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𝑒𝑐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c</m:t>
                            </m:r>
                            <m:r>
                              <a:rPr lang="en-US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𝑜𝑠</m:t>
                            </m:r>
                            <m:r>
                              <m:rPr>
                                <m:nor/>
                              </m:rPr>
                              <a:rPr lang="en-US" sz="2800" dirty="0">
                                <a:solidFill>
                                  <a:srgbClr val="FF0000"/>
                                </a:solidFill>
                                <a:sym typeface="Symbol" panose="05050102010706020507" pitchFamily="18" charset="2"/>
                              </a:rPr>
                              <m:t></m:t>
                            </m:r>
                          </m:den>
                        </m:f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327352A4-46E2-621A-9622-707BC0C87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437806" y="3311977"/>
                  <a:ext cx="1946815" cy="81208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7" name="TextBox 326">
                  <a:extLst>
                    <a:ext uri="{FF2B5EF4-FFF2-40B4-BE49-F238E27FC236}">
                      <a16:creationId xmlns:a16="http://schemas.microsoft.com/office/drawing/2014/main" id="{11F2C19F-A649-6F86-AB6B-FB8C95561E62}"/>
                    </a:ext>
                  </a:extLst>
                </p:cNvPr>
                <p:cNvSpPr txBox="1"/>
                <p:nvPr/>
              </p:nvSpPr>
              <p:spPr>
                <a:xfrm>
                  <a:off x="-1357773" y="4492752"/>
                  <a:ext cx="1969257" cy="812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𝑐</m:t>
                        </m:r>
                        <m:r>
                          <a:rPr lang="en-US" sz="28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𝑜𝑡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7030A0"/>
                            </a:solidFill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a:rPr lang="en-US" sz="28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𝑡𝑎𝑛</m:t>
                            </m:r>
                            <m:r>
                              <m:rPr>
                                <m:nor/>
                              </m:rPr>
                              <a:rPr lang="en-US" sz="2800" dirty="0">
                                <a:solidFill>
                                  <a:srgbClr val="7030A0"/>
                                </a:solidFill>
                                <a:sym typeface="Symbol" panose="05050102010706020507" pitchFamily="18" charset="2"/>
                              </a:rPr>
                              <m:t></m:t>
                            </m:r>
                          </m:den>
                        </m:f>
                      </m:oMath>
                    </m:oMathPara>
                  </a14:m>
                  <a:endParaRPr lang="en-US" sz="28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27" name="TextBox 326">
                  <a:extLst>
                    <a:ext uri="{FF2B5EF4-FFF2-40B4-BE49-F238E27FC236}">
                      <a16:creationId xmlns:a16="http://schemas.microsoft.com/office/drawing/2014/main" id="{11F2C19F-A649-6F86-AB6B-FB8C95561E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57773" y="4492752"/>
                  <a:ext cx="1969257" cy="81208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3D6B6B9E-57CF-B1AF-01E2-AE77B1521E33}"/>
                </a:ext>
              </a:extLst>
            </p:cNvPr>
            <p:cNvSpPr txBox="1"/>
            <p:nvPr/>
          </p:nvSpPr>
          <p:spPr>
            <a:xfrm>
              <a:off x="-4772730" y="365570"/>
              <a:ext cx="60480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সূত্রাবলি</a:t>
              </a:r>
              <a:endPara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0" name="TextBox 329">
                  <a:extLst>
                    <a:ext uri="{FF2B5EF4-FFF2-40B4-BE49-F238E27FC236}">
                      <a16:creationId xmlns:a16="http://schemas.microsoft.com/office/drawing/2014/main" id="{784E9317-0C94-4EB2-F22F-743FBE806A48}"/>
                    </a:ext>
                  </a:extLst>
                </p:cNvPr>
                <p:cNvSpPr txBox="1"/>
                <p:nvPr/>
              </p:nvSpPr>
              <p:spPr>
                <a:xfrm>
                  <a:off x="-5006258" y="5659416"/>
                  <a:ext cx="1969257" cy="812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𝑡</m:t>
                        </m:r>
                        <m:r>
                          <a:rPr lang="en-US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𝑎𝑛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chemeClr val="bg1"/>
                            </a:solidFill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m:rPr>
                                <m:nor/>
                              </m:rPr>
                              <a:rPr lang="en-US" sz="2800" dirty="0">
                                <a:solidFill>
                                  <a:schemeClr val="bg1"/>
                                </a:solidFill>
                                <a:sym typeface="Symbol" panose="05050102010706020507" pitchFamily="18" charset="2"/>
                              </a:rPr>
                              <m:t>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c</m:t>
                            </m:r>
                            <m: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𝑜𝑠</m:t>
                            </m:r>
                            <m:r>
                              <m:rPr>
                                <m:nor/>
                              </m:rPr>
                              <a:rPr lang="en-US" sz="2800" dirty="0">
                                <a:solidFill>
                                  <a:schemeClr val="bg1"/>
                                </a:solidFill>
                                <a:sym typeface="Symbol" panose="05050102010706020507" pitchFamily="18" charset="2"/>
                              </a:rPr>
                              <m:t></m:t>
                            </m:r>
                          </m:den>
                        </m:f>
                      </m:oMath>
                    </m:oMathPara>
                  </a14:m>
                  <a:endParaRPr lang="en-US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30" name="TextBox 329">
                  <a:extLst>
                    <a:ext uri="{FF2B5EF4-FFF2-40B4-BE49-F238E27FC236}">
                      <a16:creationId xmlns:a16="http://schemas.microsoft.com/office/drawing/2014/main" id="{784E9317-0C94-4EB2-F22F-743FBE806A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006258" y="5659416"/>
                  <a:ext cx="1969257" cy="81208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1" name="TextBox 330">
                  <a:extLst>
                    <a:ext uri="{FF2B5EF4-FFF2-40B4-BE49-F238E27FC236}">
                      <a16:creationId xmlns:a16="http://schemas.microsoft.com/office/drawing/2014/main" id="{E69D3059-AFCB-D82E-48A2-05C933618F36}"/>
                    </a:ext>
                  </a:extLst>
                </p:cNvPr>
                <p:cNvSpPr txBox="1"/>
                <p:nvPr/>
              </p:nvSpPr>
              <p:spPr>
                <a:xfrm>
                  <a:off x="-1327395" y="5619238"/>
                  <a:ext cx="1935593" cy="819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𝑐</m:t>
                        </m:r>
                        <m:r>
                          <a:rPr lang="en-US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𝑜𝑡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chemeClr val="bg1"/>
                            </a:solidFill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c</m:t>
                            </m:r>
                            <m: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𝑜𝑠</m:t>
                            </m:r>
                            <m:r>
                              <m:rPr>
                                <m:nor/>
                              </m:rPr>
                              <a:rPr lang="en-US" sz="2800" dirty="0">
                                <a:solidFill>
                                  <a:schemeClr val="bg1"/>
                                </a:solidFill>
                                <a:sym typeface="Symbol" panose="05050102010706020507" pitchFamily="18" charset="2"/>
                              </a:rPr>
                              <m:t>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m:rPr>
                                <m:nor/>
                              </m:rPr>
                              <a:rPr lang="en-US" sz="2800" dirty="0">
                                <a:solidFill>
                                  <a:schemeClr val="bg1"/>
                                </a:solidFill>
                                <a:sym typeface="Symbol" panose="05050102010706020507" pitchFamily="18" charset="2"/>
                              </a:rPr>
                              <m:t></m:t>
                            </m:r>
                          </m:den>
                        </m:f>
                      </m:oMath>
                    </m:oMathPara>
                  </a14:m>
                  <a:endParaRPr lang="en-US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31" name="TextBox 330">
                  <a:extLst>
                    <a:ext uri="{FF2B5EF4-FFF2-40B4-BE49-F238E27FC236}">
                      <a16:creationId xmlns:a16="http://schemas.microsoft.com/office/drawing/2014/main" id="{E69D3059-AFCB-D82E-48A2-05C933618F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27395" y="5619238"/>
                  <a:ext cx="1935593" cy="819263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A1E036F-C15E-6C9F-8466-908857AE5E46}"/>
              </a:ext>
            </a:extLst>
          </p:cNvPr>
          <p:cNvGrpSpPr/>
          <p:nvPr/>
        </p:nvGrpSpPr>
        <p:grpSpPr>
          <a:xfrm>
            <a:off x="-9729857" y="-20885"/>
            <a:ext cx="11950810" cy="6858000"/>
            <a:chOff x="-9729857" y="-20885"/>
            <a:chExt cx="11950810" cy="6858000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A19861AF-3BA8-4899-97A1-DB56F14FB1B9}"/>
                </a:ext>
              </a:extLst>
            </p:cNvPr>
            <p:cNvGrpSpPr/>
            <p:nvPr/>
          </p:nvGrpSpPr>
          <p:grpSpPr>
            <a:xfrm>
              <a:off x="-9729857" y="-20885"/>
              <a:ext cx="11950810" cy="6858000"/>
              <a:chOff x="-1598213" y="0"/>
              <a:chExt cx="11950810" cy="6858000"/>
            </a:xfrm>
            <a:effectLst>
              <a:outerShdw blurRad="1905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FD3E7307-449F-4DA7-9F98-42B93AD13830}"/>
                  </a:ext>
                </a:extLst>
              </p:cNvPr>
              <p:cNvSpPr/>
              <p:nvPr/>
            </p:nvSpPr>
            <p:spPr>
              <a:xfrm>
                <a:off x="-1598213" y="0"/>
                <a:ext cx="11680466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9D4AD895-B489-4D3A-9B95-26A0EB61E2E4}"/>
                  </a:ext>
                </a:extLst>
              </p:cNvPr>
              <p:cNvGrpSpPr/>
              <p:nvPr/>
            </p:nvGrpSpPr>
            <p:grpSpPr>
              <a:xfrm>
                <a:off x="9994788" y="1984964"/>
                <a:ext cx="357809" cy="408167"/>
                <a:chOff x="11593002" y="368410"/>
                <a:chExt cx="357809" cy="408167"/>
              </a:xfrm>
              <a:solidFill>
                <a:schemeClr val="accent5">
                  <a:lumMod val="60000"/>
                  <a:lumOff val="40000"/>
                </a:schemeClr>
              </a:solidFill>
            </p:grpSpPr>
            <p:sp>
              <p:nvSpPr>
                <p:cNvPr id="102" name="Rectangle: Top Corners Rounded 101">
                  <a:extLst>
                    <a:ext uri="{FF2B5EF4-FFF2-40B4-BE49-F238E27FC236}">
                      <a16:creationId xmlns:a16="http://schemas.microsoft.com/office/drawing/2014/main" id="{006B705F-36A3-4E8C-AF89-B144D53A6E13}"/>
                    </a:ext>
                  </a:extLst>
                </p:cNvPr>
                <p:cNvSpPr/>
                <p:nvPr/>
              </p:nvSpPr>
              <p:spPr>
                <a:xfrm rot="5400000">
                  <a:off x="11611555" y="437321"/>
                  <a:ext cx="408167" cy="270345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FC3FD7D9-796E-4854-BF0D-E3E5E8E78773}"/>
                    </a:ext>
                  </a:extLst>
                </p:cNvPr>
                <p:cNvSpPr txBox="1"/>
                <p:nvPr/>
              </p:nvSpPr>
              <p:spPr>
                <a:xfrm>
                  <a:off x="11593002" y="368410"/>
                  <a:ext cx="270345" cy="40011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rgbClr val="61C39B"/>
                      </a:solidFill>
                      <a:latin typeface="Bodoni MT Black" panose="02070A03080606020203" pitchFamily="18" charset="0"/>
                    </a:rPr>
                    <a:t>E</a:t>
                  </a:r>
                </a:p>
              </p:txBody>
            </p:sp>
          </p:grp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F2C468D-2AE6-DDD7-0E90-E714FA2702C2}"/>
                </a:ext>
              </a:extLst>
            </p:cNvPr>
            <p:cNvSpPr txBox="1"/>
            <p:nvPr/>
          </p:nvSpPr>
          <p:spPr>
            <a:xfrm>
              <a:off x="-4507840" y="164488"/>
              <a:ext cx="432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সূত্রাবলি</a:t>
              </a:r>
              <a:endPara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6928292-82DA-0268-08EE-B4BF38CF9471}"/>
                </a:ext>
              </a:extLst>
            </p:cNvPr>
            <p:cNvGrpSpPr/>
            <p:nvPr/>
          </p:nvGrpSpPr>
          <p:grpSpPr>
            <a:xfrm>
              <a:off x="-6419764" y="1051628"/>
              <a:ext cx="4069123" cy="1568808"/>
              <a:chOff x="-6561510" y="908973"/>
              <a:chExt cx="4069123" cy="156880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83172A3-CA77-FA3A-7E3D-F6CF346CF768}"/>
                  </a:ext>
                </a:extLst>
              </p:cNvPr>
              <p:cNvGrpSpPr/>
              <p:nvPr/>
            </p:nvGrpSpPr>
            <p:grpSpPr>
              <a:xfrm>
                <a:off x="-6452917" y="978614"/>
                <a:ext cx="3906232" cy="1423790"/>
                <a:chOff x="-6452917" y="978614"/>
                <a:chExt cx="3906232" cy="142379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85A7E392-2324-C03A-FBD7-ABB3D2B01A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6431165" y="978614"/>
                      <a:ext cx="3884480" cy="5329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</m:e>
                              <m:sup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𝒄𝒐𝒔</m:t>
                                </m:r>
                              </m:e>
                              <m:sup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en-US" sz="2800" b="1" dirty="0"/>
                    </a:p>
                  </p:txBody>
                </p:sp>
              </mc:Choice>
              <mc:Fallback xmlns=""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85A7E392-2324-C03A-FBD7-ABB3D2B01A4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6431165" y="978614"/>
                      <a:ext cx="3884480" cy="532966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D9299EB2-14D0-E8CC-6838-77DBE5CFBD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6442041" y="1424026"/>
                      <a:ext cx="3884480" cy="5329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</m:e>
                              <m:sup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𝒄𝒐𝒔</m:t>
                                </m:r>
                              </m:e>
                              <m:sup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oMath>
                        </m:oMathPara>
                      </a14:m>
                      <a:endParaRPr lang="en-US" sz="2800" b="1" dirty="0"/>
                    </a:p>
                  </p:txBody>
                </p:sp>
              </mc:Choice>
              <mc:Fallback xmlns="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D9299EB2-14D0-E8CC-6838-77DBE5CFBDB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6442041" y="1424026"/>
                      <a:ext cx="3884480" cy="532966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93ED7F45-5F54-2A8E-66C5-A8A7A2DF24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6452917" y="1869438"/>
                      <a:ext cx="3884480" cy="5329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𝒄𝒐𝒔</m:t>
                                </m:r>
                              </m:e>
                              <m:sup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sSup>
                              <m:sSup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</m:e>
                              <m:sup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oMath>
                        </m:oMathPara>
                      </a14:m>
                      <a:endParaRPr lang="en-US" sz="2800" b="1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93ED7F45-5F54-2A8E-66C5-A8A7A2DF245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6452917" y="1869438"/>
                      <a:ext cx="3884480" cy="532966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0D0382A-E6EE-DB14-350B-24B9F35931FE}"/>
                  </a:ext>
                </a:extLst>
              </p:cNvPr>
              <p:cNvSpPr/>
              <p:nvPr/>
            </p:nvSpPr>
            <p:spPr>
              <a:xfrm>
                <a:off x="-6561510" y="908973"/>
                <a:ext cx="4069123" cy="1568808"/>
              </a:xfrm>
              <a:prstGeom prst="rect">
                <a:avLst/>
              </a:prstGeom>
              <a:noFill/>
              <a:ln w="38100">
                <a:solidFill>
                  <a:srgbClr val="FF57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5F2E4D1-4667-13D1-3C1F-5714C47AE5B3}"/>
                </a:ext>
              </a:extLst>
            </p:cNvPr>
            <p:cNvGrpSpPr/>
            <p:nvPr/>
          </p:nvGrpSpPr>
          <p:grpSpPr>
            <a:xfrm>
              <a:off x="-3079005" y="2791907"/>
              <a:ext cx="4405252" cy="1637474"/>
              <a:chOff x="-6603025" y="2882361"/>
              <a:chExt cx="4405252" cy="1637474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6F88D86-C0F9-4FB2-BF25-4D3484F5B3DE}"/>
                  </a:ext>
                </a:extLst>
              </p:cNvPr>
              <p:cNvGrpSpPr/>
              <p:nvPr/>
            </p:nvGrpSpPr>
            <p:grpSpPr>
              <a:xfrm>
                <a:off x="-6603025" y="2969360"/>
                <a:ext cx="4405252" cy="1466738"/>
                <a:chOff x="-6603025" y="2969360"/>
                <a:chExt cx="4405252" cy="146673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508DD8F6-5392-657D-EF22-7436CE4B7D3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6603025" y="2969360"/>
                      <a:ext cx="4385356" cy="5329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𝒔𝒆𝒄</m:t>
                                </m:r>
                              </m:e>
                              <m:sup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𝒕𝒂𝒏</m:t>
                                </m:r>
                              </m:e>
                              <m:sup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en-US" sz="2800" b="1" dirty="0"/>
                    </a:p>
                  </p:txBody>
                </p:sp>
              </mc:Choice>
              <mc:Fallback xmlns="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508DD8F6-5392-657D-EF22-7436CE4B7D3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6603025" y="2969360"/>
                      <a:ext cx="4385356" cy="532966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571B92B5-A042-B9F2-94FE-7B1D8862D2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6593077" y="3436246"/>
                      <a:ext cx="4385356" cy="5329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𝒔𝒆𝒄</m:t>
                                </m:r>
                              </m:e>
                              <m:sup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𝒕𝒂𝒏</m:t>
                                </m:r>
                              </m:e>
                              <m:sup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oMath>
                        </m:oMathPara>
                      </a14:m>
                      <a:endParaRPr lang="en-US" sz="2800" b="1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571B92B5-A042-B9F2-94FE-7B1D8862D2C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6593077" y="3436246"/>
                      <a:ext cx="4385356" cy="532966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42A22DE4-D596-F683-FF48-CF9A8397EE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6583129" y="3903132"/>
                      <a:ext cx="4385356" cy="5329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𝒕𝒂𝒏</m:t>
                                </m:r>
                              </m:e>
                              <m:sup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𝒔𝒆𝒄</m:t>
                                </m:r>
                              </m:e>
                              <m:sup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en-US" sz="2800" b="1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42A22DE4-D596-F683-FF48-CF9A8397EE4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6583129" y="3903132"/>
                      <a:ext cx="4385356" cy="532966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5B284CB-2DD7-7032-0BED-5896DAA5BC77}"/>
                  </a:ext>
                </a:extLst>
              </p:cNvPr>
              <p:cNvSpPr/>
              <p:nvPr/>
            </p:nvSpPr>
            <p:spPr>
              <a:xfrm>
                <a:off x="-6420145" y="2882361"/>
                <a:ext cx="4043651" cy="1637474"/>
              </a:xfrm>
              <a:prstGeom prst="rect">
                <a:avLst/>
              </a:prstGeom>
              <a:noFill/>
              <a:ln w="381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7E70867-1695-02EE-93CC-07A9DA58C5D2}"/>
                </a:ext>
              </a:extLst>
            </p:cNvPr>
            <p:cNvGrpSpPr/>
            <p:nvPr/>
          </p:nvGrpSpPr>
          <p:grpSpPr>
            <a:xfrm>
              <a:off x="-6493471" y="4566490"/>
              <a:ext cx="4459951" cy="1540681"/>
              <a:chOff x="-6603656" y="4739385"/>
              <a:chExt cx="4459951" cy="1540681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CFE1CCFA-7A56-EE86-0B10-B571CD1FBDA5}"/>
                  </a:ext>
                </a:extLst>
              </p:cNvPr>
              <p:cNvGrpSpPr/>
              <p:nvPr/>
            </p:nvGrpSpPr>
            <p:grpSpPr>
              <a:xfrm>
                <a:off x="-6603656" y="4830898"/>
                <a:ext cx="4459951" cy="1386500"/>
                <a:chOff x="-6603656" y="4830898"/>
                <a:chExt cx="4459951" cy="13865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0E73969B-F136-6BCD-7D49-21BE48FAF6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6603656" y="4830898"/>
                      <a:ext cx="4458691" cy="5329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𝒄𝒐𝒔𝒆𝒄</m:t>
                                </m:r>
                              </m:e>
                              <m:sup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𝒄𝒐𝒕</m:t>
                                </m:r>
                              </m:e>
                              <m:sup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en-US" sz="2800" b="1" dirty="0"/>
                    </a:p>
                  </p:txBody>
                </p:sp>
              </mc:Choice>
              <mc:Fallback xmlns="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0E73969B-F136-6BCD-7D49-21BE48FAF6E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6603656" y="4830898"/>
                      <a:ext cx="4458691" cy="532966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A8DFD88C-A1C9-2D30-7E22-1C86CCC5CC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6603026" y="5257665"/>
                      <a:ext cx="4458691" cy="5329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𝒄𝒐𝒔𝒆𝒄</m:t>
                                </m:r>
                              </m:e>
                              <m:sup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𝒄𝒐𝒕</m:t>
                                </m:r>
                              </m:e>
                              <m:sup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oMath>
                        </m:oMathPara>
                      </a14:m>
                      <a:endParaRPr lang="en-US" sz="2800" b="1" dirty="0"/>
                    </a:p>
                  </p:txBody>
                </p:sp>
              </mc:Choice>
              <mc:Fallback xmlns="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A8DFD88C-A1C9-2D30-7E22-1C86CCC5CCB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6603026" y="5257665"/>
                      <a:ext cx="4458691" cy="532966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40CE907F-0115-A134-6CA2-7B04F1B76A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6602396" y="5684432"/>
                      <a:ext cx="4458691" cy="5329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𝒄𝒐𝒕</m:t>
                                </m:r>
                              </m:e>
                              <m:sup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𝒄𝒐𝒔𝒆𝒄</m:t>
                                </m:r>
                              </m:e>
                              <m:sup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en-US" sz="2800" b="1" dirty="0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40CE907F-0115-A134-6CA2-7B04F1B76AB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6602396" y="5684432"/>
                      <a:ext cx="4458691" cy="532966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B55D37C-289C-4C12-7290-DA3717E9A308}"/>
                  </a:ext>
                </a:extLst>
              </p:cNvPr>
              <p:cNvSpPr/>
              <p:nvPr/>
            </p:nvSpPr>
            <p:spPr>
              <a:xfrm>
                <a:off x="-6420145" y="4739385"/>
                <a:ext cx="4030456" cy="1540681"/>
              </a:xfrm>
              <a:prstGeom prst="rect">
                <a:avLst/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0C05425F-3392-A6F8-A603-084C4F81C9A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388" y="1899225"/>
            <a:ext cx="3511308" cy="329185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E57DE9C-94D9-E8B9-A6AE-1C824578FD9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10" y="1798970"/>
            <a:ext cx="3618246" cy="3392106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1B71170-BD2A-8CE1-391D-CD37F9481757}"/>
              </a:ext>
            </a:extLst>
          </p:cNvPr>
          <p:cNvGrpSpPr/>
          <p:nvPr/>
        </p:nvGrpSpPr>
        <p:grpSpPr>
          <a:xfrm>
            <a:off x="-10186844" y="-7844"/>
            <a:ext cx="11950172" cy="6858000"/>
            <a:chOff x="-10186844" y="-7844"/>
            <a:chExt cx="11950172" cy="685800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383E7E25-C3CA-B98B-E726-A9FCF7D575E9}"/>
                </a:ext>
              </a:extLst>
            </p:cNvPr>
            <p:cNvGrpSpPr/>
            <p:nvPr/>
          </p:nvGrpSpPr>
          <p:grpSpPr>
            <a:xfrm>
              <a:off x="-10186844" y="-7844"/>
              <a:ext cx="11950172" cy="6858000"/>
              <a:chOff x="-10186844" y="-7844"/>
              <a:chExt cx="11950172" cy="685800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039E665-78C3-4B0D-86EA-857F6018ED18}"/>
                  </a:ext>
                </a:extLst>
              </p:cNvPr>
              <p:cNvGrpSpPr/>
              <p:nvPr/>
            </p:nvGrpSpPr>
            <p:grpSpPr>
              <a:xfrm>
                <a:off x="-10186844" y="-7844"/>
                <a:ext cx="11950172" cy="6858000"/>
                <a:chOff x="-2004952" y="26082"/>
                <a:chExt cx="11950172" cy="6858000"/>
              </a:xfrm>
            </p:grpSpPr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98C692BF-30DB-465C-88AB-4CE28C357269}"/>
                    </a:ext>
                  </a:extLst>
                </p:cNvPr>
                <p:cNvGrpSpPr/>
                <p:nvPr/>
              </p:nvGrpSpPr>
              <p:grpSpPr>
                <a:xfrm>
                  <a:off x="-2004952" y="26082"/>
                  <a:ext cx="11950172" cy="6858000"/>
                  <a:chOff x="-1956022" y="0"/>
                  <a:chExt cx="11950172" cy="6858000"/>
                </a:xfrm>
                <a:effectLst>
                  <a:outerShdw blurRad="190500" dist="88900" algn="l" rotWithShape="0">
                    <a:prstClr val="black">
                      <a:alpha val="51000"/>
                    </a:prstClr>
                  </a:outerShdw>
                </a:effectLst>
              </p:grpSpPr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50E3DB39-0CBC-4202-A342-D9D3BD05C688}"/>
                      </a:ext>
                    </a:extLst>
                  </p:cNvPr>
                  <p:cNvSpPr/>
                  <p:nvPr/>
                </p:nvSpPr>
                <p:spPr>
                  <a:xfrm>
                    <a:off x="-1956022" y="0"/>
                    <a:ext cx="11680466" cy="6858000"/>
                  </a:xfrm>
                  <a:prstGeom prst="rect">
                    <a:avLst/>
                  </a:prstGeom>
                  <a:solidFill>
                    <a:srgbClr val="5F94E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05" name="Group 104">
                    <a:extLst>
                      <a:ext uri="{FF2B5EF4-FFF2-40B4-BE49-F238E27FC236}">
                        <a16:creationId xmlns:a16="http://schemas.microsoft.com/office/drawing/2014/main" id="{7F777CDF-A0FA-4818-9DC3-E1BC6DB30018}"/>
                      </a:ext>
                    </a:extLst>
                  </p:cNvPr>
                  <p:cNvGrpSpPr/>
                  <p:nvPr/>
                </p:nvGrpSpPr>
                <p:grpSpPr>
                  <a:xfrm>
                    <a:off x="9660833" y="2385074"/>
                    <a:ext cx="333317" cy="408167"/>
                    <a:chOff x="11593002" y="368410"/>
                    <a:chExt cx="333317" cy="408167"/>
                  </a:xfrm>
                  <a:solidFill>
                    <a:srgbClr val="5F94E3"/>
                  </a:solidFill>
                </p:grpSpPr>
                <p:sp>
                  <p:nvSpPr>
                    <p:cNvPr id="106" name="Rectangle: Top Corners Rounded 105">
                      <a:extLst>
                        <a:ext uri="{FF2B5EF4-FFF2-40B4-BE49-F238E27FC236}">
                          <a16:creationId xmlns:a16="http://schemas.microsoft.com/office/drawing/2014/main" id="{571C1FFC-7C7D-44E9-AF37-3C010F2CD65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1587063" y="437321"/>
                      <a:ext cx="408167" cy="270345"/>
                    </a:xfrm>
                    <a:prstGeom prst="round2Same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CD1539F1-3BD5-414D-864B-3DCB926D56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593002" y="368410"/>
                      <a:ext cx="270345" cy="400110"/>
                    </a:xfrm>
                    <a:prstGeom prst="rect">
                      <a:avLst/>
                    </a:prstGeom>
                    <a:grp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0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odoni MT Black" panose="02070A03080606020203" pitchFamily="18" charset="0"/>
                        </a:rPr>
                        <a:t>F</a:t>
                      </a:r>
                    </a:p>
                  </p:txBody>
                </p:sp>
              </p:grp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CD8794B-772F-4BE4-9506-539D30604C6F}"/>
                    </a:ext>
                  </a:extLst>
                </p:cNvPr>
                <p:cNvSpPr txBox="1"/>
                <p:nvPr/>
              </p:nvSpPr>
              <p:spPr>
                <a:xfrm>
                  <a:off x="2871536" y="1768030"/>
                  <a:ext cx="38062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1C4A9F9-EE82-1F37-C73C-325C476CD7A6}"/>
                      </a:ext>
                    </a:extLst>
                  </p:cNvPr>
                  <p:cNvSpPr txBox="1"/>
                  <p:nvPr/>
                </p:nvSpPr>
                <p:spPr>
                  <a:xfrm>
                    <a:off x="-5098995" y="1336050"/>
                    <a:ext cx="6490184" cy="160005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>
                        <a:highlight>
                          <a:srgbClr val="FFFF00"/>
                        </a:highlight>
                      </a:rPr>
                      <a:t>পিথাগোরাসের </a:t>
                    </a:r>
                    <a:r>
                      <a:rPr lang="en-US" sz="2400" dirty="0" err="1">
                        <a:highlight>
                          <a:srgbClr val="FFFF00"/>
                        </a:highlight>
                      </a:rPr>
                      <a:t>সুত্র</a:t>
                    </a:r>
                    <a:r>
                      <a:rPr lang="en-US" sz="2400" dirty="0">
                        <a:highlight>
                          <a:srgbClr val="FFFF00"/>
                        </a:highlight>
                      </a:rPr>
                      <a:t>,</a:t>
                    </a: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অতিভূজ</m:t>
                              </m:r>
                            </m:e>
                            <m:sup>
                              <m:r>
                                <a:rPr lang="en-US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লম্ব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ভূমি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oMath>
                      </m:oMathPara>
                    </a14:m>
                    <a:endParaRPr lang="en-US" sz="2800" b="1" dirty="0"/>
                  </a:p>
                  <a:p>
                    <a:endParaRPr lang="en-US" dirty="0"/>
                  </a:p>
                  <a:p>
                    <a:endParaRPr lang="en-US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1C4A9F9-EE82-1F37-C73C-325C476CD7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5098995" y="1336050"/>
                    <a:ext cx="6490184" cy="1600053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1504" t="-34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05E78CF7-9D22-9634-4447-5DCBCC865707}"/>
                      </a:ext>
                    </a:extLst>
                  </p:cNvPr>
                  <p:cNvSpPr txBox="1"/>
                  <p:nvPr/>
                </p:nvSpPr>
                <p:spPr>
                  <a:xfrm>
                    <a:off x="-5029283" y="2944849"/>
                    <a:ext cx="4964835" cy="5329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b="1" dirty="0">
                        <a:solidFill>
                          <a:schemeClr val="bg1"/>
                        </a:solidFill>
                      </a:rPr>
                      <a:t>4ab =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28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sz="28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sSup>
                          <m:sSupPr>
                            <m:ctrlPr>
                              <a:rPr lang="en-US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a14:m>
                    <a:endParaRPr lang="en-US" sz="2800" b="1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05E78CF7-9D22-9634-4447-5DCBCC8657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5029283" y="2944849"/>
                    <a:ext cx="4964835" cy="532966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2580" t="-7955" b="-318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E8115835-1DDC-D115-4E85-C20B19A8C4EB}"/>
                      </a:ext>
                    </a:extLst>
                  </p:cNvPr>
                  <p:cNvSpPr txBox="1"/>
                  <p:nvPr/>
                </p:nvSpPr>
                <p:spPr>
                  <a:xfrm>
                    <a:off x="-5082255" y="3695116"/>
                    <a:ext cx="4966545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2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  <a:r>
                      <a:rPr lang="en-US" sz="3200" dirty="0">
                        <a:solidFill>
                          <a:srgbClr val="FF0000"/>
                        </a:solidFill>
                      </a:rPr>
                      <a:t> =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sz="32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E8115835-1DDC-D115-4E85-C20B19A8C4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5082255" y="3695116"/>
                    <a:ext cx="4966545" cy="584775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t="-12500" b="-34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2889479C-6CBE-AC13-6FB7-18330593C8F9}"/>
                      </a:ext>
                    </a:extLst>
                  </p:cNvPr>
                  <p:cNvSpPr txBox="1"/>
                  <p:nvPr/>
                </p:nvSpPr>
                <p:spPr>
                  <a:xfrm>
                    <a:off x="-5760433" y="4451273"/>
                    <a:ext cx="2955603" cy="9753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800" i="1" smtClean="0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  <m:r>
                            <a:rPr lang="en-US" sz="28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oMath>
                      </m:oMathPara>
                    </a14:m>
                    <a:endParaRPr lang="en-US" sz="2800" dirty="0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2889479C-6CBE-AC13-6FB7-18330593C8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5760433" y="4451273"/>
                    <a:ext cx="2955603" cy="975395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91DC5193-0AA8-C487-81C7-94E1F4DC4F4E}"/>
                      </a:ext>
                    </a:extLst>
                  </p:cNvPr>
                  <p:cNvSpPr txBox="1"/>
                  <p:nvPr/>
                </p:nvSpPr>
                <p:spPr>
                  <a:xfrm>
                    <a:off x="-2305819" y="4460698"/>
                    <a:ext cx="2955603" cy="90563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800" i="1" smtClean="0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US" sz="2800" i="1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sz="2800" i="1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  <m:r>
                            <a:rPr lang="en-US" sz="28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sz="2800" i="1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sz="2800" i="1">
                                  <a:solidFill>
                                    <a:schemeClr val="accent4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</m:oMath>
                      </m:oMathPara>
                    </a14:m>
                    <a:endParaRPr lang="en-US" sz="2800" dirty="0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91DC5193-0AA8-C487-81C7-94E1F4DC4F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305819" y="4460698"/>
                    <a:ext cx="2955603" cy="905633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988E780F-2571-5438-FF0D-A6D53E667C26}"/>
                </a:ext>
              </a:extLst>
            </p:cNvPr>
            <p:cNvSpPr txBox="1"/>
            <p:nvPr/>
          </p:nvSpPr>
          <p:spPr>
            <a:xfrm>
              <a:off x="-3392767" y="296375"/>
              <a:ext cx="34793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সূত্রাবলি</a:t>
              </a:r>
              <a:endPara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7ADDAA4-8D28-F3B8-14EB-74E1BF09EEBB}"/>
              </a:ext>
            </a:extLst>
          </p:cNvPr>
          <p:cNvGrpSpPr/>
          <p:nvPr/>
        </p:nvGrpSpPr>
        <p:grpSpPr>
          <a:xfrm>
            <a:off x="-10663924" y="0"/>
            <a:ext cx="11953935" cy="6858000"/>
            <a:chOff x="-10663924" y="0"/>
            <a:chExt cx="11953935" cy="6858000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6013FF73-0B17-42A0-848D-CD9445302F6B}"/>
                </a:ext>
              </a:extLst>
            </p:cNvPr>
            <p:cNvGrpSpPr/>
            <p:nvPr/>
          </p:nvGrpSpPr>
          <p:grpSpPr>
            <a:xfrm>
              <a:off x="-10663924" y="0"/>
              <a:ext cx="11953935" cy="6858000"/>
              <a:chOff x="-2313831" y="0"/>
              <a:chExt cx="11953935" cy="6858000"/>
            </a:xfrm>
            <a:effectLst>
              <a:outerShdw blurRad="1905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A0D20DE-BF32-430B-AE0A-B27D5D58F3F7}"/>
                  </a:ext>
                </a:extLst>
              </p:cNvPr>
              <p:cNvSpPr/>
              <p:nvPr/>
            </p:nvSpPr>
            <p:spPr>
              <a:xfrm>
                <a:off x="-2313831" y="0"/>
                <a:ext cx="11680466" cy="6858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3DF004AF-B6F6-4A69-BCF1-8E66B8C70EC9}"/>
                  </a:ext>
                </a:extLst>
              </p:cNvPr>
              <p:cNvGrpSpPr/>
              <p:nvPr/>
            </p:nvGrpSpPr>
            <p:grpSpPr>
              <a:xfrm>
                <a:off x="9314951" y="2756134"/>
                <a:ext cx="325153" cy="408167"/>
                <a:chOff x="11593002" y="368410"/>
                <a:chExt cx="325153" cy="408167"/>
              </a:xfrm>
              <a:solidFill>
                <a:schemeClr val="accent6">
                  <a:lumMod val="60000"/>
                  <a:lumOff val="40000"/>
                </a:schemeClr>
              </a:solidFill>
            </p:grpSpPr>
            <p:sp>
              <p:nvSpPr>
                <p:cNvPr id="110" name="Rectangle: Top Corners Rounded 109">
                  <a:extLst>
                    <a:ext uri="{FF2B5EF4-FFF2-40B4-BE49-F238E27FC236}">
                      <a16:creationId xmlns:a16="http://schemas.microsoft.com/office/drawing/2014/main" id="{BF9818E9-02BC-4C23-9C39-E7FA3009FECA}"/>
                    </a:ext>
                  </a:extLst>
                </p:cNvPr>
                <p:cNvSpPr/>
                <p:nvPr/>
              </p:nvSpPr>
              <p:spPr>
                <a:xfrm rot="5400000">
                  <a:off x="11578899" y="437321"/>
                  <a:ext cx="408167" cy="270345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890C2ADD-A12E-46AC-A2FE-D50AE0313631}"/>
                    </a:ext>
                  </a:extLst>
                </p:cNvPr>
                <p:cNvSpPr txBox="1"/>
                <p:nvPr/>
              </p:nvSpPr>
              <p:spPr>
                <a:xfrm>
                  <a:off x="11593002" y="368410"/>
                  <a:ext cx="270345" cy="40011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rgbClr val="5F94E3"/>
                      </a:solidFill>
                      <a:latin typeface="Bodoni MT Black" panose="02070A03080606020203" pitchFamily="18" charset="0"/>
                    </a:rPr>
                    <a:t>G</a:t>
                  </a:r>
                </a:p>
              </p:txBody>
            </p:sp>
          </p:grpSp>
        </p:grp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B1B449DA-7CA0-60FA-1979-67682274D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13529" y="1163900"/>
              <a:ext cx="5962650" cy="47625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82C1A16-DE53-81AC-5AD9-F9EE9B9C49A7}"/>
              </a:ext>
            </a:extLst>
          </p:cNvPr>
          <p:cNvGrpSpPr/>
          <p:nvPr/>
        </p:nvGrpSpPr>
        <p:grpSpPr>
          <a:xfrm>
            <a:off x="-11117575" y="-7844"/>
            <a:ext cx="11954360" cy="6858000"/>
            <a:chOff x="-11117575" y="-7844"/>
            <a:chExt cx="11954360" cy="6858000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4A74C9D5-16B9-49B3-AF24-358DBE1E8CF1}"/>
                </a:ext>
              </a:extLst>
            </p:cNvPr>
            <p:cNvGrpSpPr/>
            <p:nvPr/>
          </p:nvGrpSpPr>
          <p:grpSpPr>
            <a:xfrm>
              <a:off x="-11117575" y="-7844"/>
              <a:ext cx="11954360" cy="6858000"/>
              <a:chOff x="-2671640" y="0"/>
              <a:chExt cx="11954360" cy="6858000"/>
            </a:xfrm>
            <a:effectLst>
              <a:outerShdw blurRad="1905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4170B6EE-03D7-4132-BDEB-A52BA00108CB}"/>
                  </a:ext>
                </a:extLst>
              </p:cNvPr>
              <p:cNvSpPr/>
              <p:nvPr/>
            </p:nvSpPr>
            <p:spPr>
              <a:xfrm>
                <a:off x="-2671640" y="0"/>
                <a:ext cx="11680466" cy="6858000"/>
              </a:xfrm>
              <a:prstGeom prst="rect">
                <a:avLst/>
              </a:prstGeom>
              <a:solidFill>
                <a:srgbClr val="FF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F6928FF1-BEC8-44A1-A28D-2EF82B9D4014}"/>
                  </a:ext>
                </a:extLst>
              </p:cNvPr>
              <p:cNvGrpSpPr/>
              <p:nvPr/>
            </p:nvGrpSpPr>
            <p:grpSpPr>
              <a:xfrm>
                <a:off x="8941239" y="3166951"/>
                <a:ext cx="341481" cy="408167"/>
                <a:chOff x="11593002" y="368410"/>
                <a:chExt cx="341481" cy="408167"/>
              </a:xfrm>
              <a:solidFill>
                <a:srgbClr val="FF5757"/>
              </a:solidFill>
            </p:grpSpPr>
            <p:sp>
              <p:nvSpPr>
                <p:cNvPr id="114" name="Rectangle: Top Corners Rounded 113">
                  <a:extLst>
                    <a:ext uri="{FF2B5EF4-FFF2-40B4-BE49-F238E27FC236}">
                      <a16:creationId xmlns:a16="http://schemas.microsoft.com/office/drawing/2014/main" id="{70EF2F47-F0DC-4190-8CAD-85FAD7D0A628}"/>
                    </a:ext>
                  </a:extLst>
                </p:cNvPr>
                <p:cNvSpPr/>
                <p:nvPr/>
              </p:nvSpPr>
              <p:spPr>
                <a:xfrm rot="5400000">
                  <a:off x="11595227" y="437321"/>
                  <a:ext cx="408167" cy="270345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3E76F78E-A14C-4463-A077-17BB977BF995}"/>
                    </a:ext>
                  </a:extLst>
                </p:cNvPr>
                <p:cNvSpPr txBox="1"/>
                <p:nvPr/>
              </p:nvSpPr>
              <p:spPr>
                <a:xfrm>
                  <a:off x="11593002" y="368410"/>
                  <a:ext cx="270345" cy="40011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rgbClr val="61C39B"/>
                      </a:solidFill>
                      <a:latin typeface="Bodoni MT Black" panose="02070A03080606020203" pitchFamily="18" charset="0"/>
                    </a:rPr>
                    <a:t>H</a:t>
                  </a:r>
                </a:p>
              </p:txBody>
            </p:sp>
          </p:grp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A5422F3-55D7-E63F-FF60-6E8260A60141}"/>
                </a:ext>
              </a:extLst>
            </p:cNvPr>
            <p:cNvSpPr txBox="1"/>
            <p:nvPr/>
          </p:nvSpPr>
          <p:spPr>
            <a:xfrm>
              <a:off x="-5852103" y="2749657"/>
              <a:ext cx="53456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lgerian" panose="04020705040A02060702" pitchFamily="82" charset="0"/>
                </a:rPr>
                <a:t>THANK YOU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4581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6.25E-7 1.11111E-6 L 0.63451 0.00463 " pathEditMode="relative" rAng="0" ptsTypes="AA">
                                      <p:cBhvr>
                                        <p:cTn id="16" dur="1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19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11111E-6 L 0.67409 1.11111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6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11111E-6 L 0.67083 1.11111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11111E-6 L 0.67708 1.11111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11111E-6 L 0.67826 1.11111E-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7.40741E-7 L 0.68125 -7.40741E-7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06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59259E-6 L 0.68372 -2.59259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19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0 L 0.69232 0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6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0.69583 -2.59259E-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mainDemo</Template>
  <TotalTime>641</TotalTime>
  <Words>307</Words>
  <Application>Microsoft Office PowerPoint</Application>
  <PresentationFormat>Widescreen</PresentationFormat>
  <Paragraphs>93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Algerian</vt:lpstr>
      <vt:lpstr>Arial</vt:lpstr>
      <vt:lpstr>Arial Rounded MT Bold</vt:lpstr>
      <vt:lpstr>Bodoni MT Black</vt:lpstr>
      <vt:lpstr>Calibri</vt:lpstr>
      <vt:lpstr>Calibri Light</vt:lpstr>
      <vt:lpstr>Cambria Math</vt:lpstr>
      <vt:lpstr>Google Sans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Habib Ullah</dc:creator>
  <cp:lastModifiedBy>Habib Ullah</cp:lastModifiedBy>
  <cp:revision>15</cp:revision>
  <dcterms:created xsi:type="dcterms:W3CDTF">2023-06-07T03:48:28Z</dcterms:created>
  <dcterms:modified xsi:type="dcterms:W3CDTF">2023-06-14T09:30:54Z</dcterms:modified>
</cp:coreProperties>
</file>